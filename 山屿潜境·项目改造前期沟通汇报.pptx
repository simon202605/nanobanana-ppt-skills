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6256000" cy="9144000"/>
  <p:notesSz cx="9144000" cy="16256000"/>
  <p:embeddedFontLst>
    <p:embeddedFont>
      <p:font typeface="Liter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k-d.tripcdn.com/images/1mi59224x993ydms7D2BF.jpg?proc=resize%2Cm_z%2Cw_375%2Ch_0%3Bformat%2Cf_webp%2C9C2E">    </p:cNvPr>
          <p:cNvPicPr>
            <a:picLocks noChangeAspect="1"/>
          </p:cNvPicPr>
          <p:nvPr/>
        </p:nvPicPr>
        <p:blipFill>
          <a:blip r:embed="rId1"/>
          <a:srcRect l="0" r="0" t="12535" b="1253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D3E">
                  <a:alpha val="13000"/>
                </a:srgbClr>
              </a:gs>
              <a:gs pos="40000">
                <a:srgbClr val="1B4D3E">
                  <a:alpha val="53000"/>
                </a:srgbClr>
              </a:gs>
              <a:gs pos="100000">
                <a:srgbClr val="1B4D3E">
                  <a:alpha val="87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3046869"/>
            <a:ext cx="2540000" cy="0"/>
          </a:xfrm>
          <a:prstGeom prst="straightConnector1">
            <a:avLst/>
          </a:prstGeom>
          <a:noFill/>
          <a:ln w="25400">
            <a:solidFill>
              <a:srgbClr val="C8956C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778000" y="3175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山屿潜境·项目改造前期沟通汇报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858000" y="4064000"/>
            <a:ext cx="2540000" cy="0"/>
          </a:xfrm>
          <a:prstGeom prst="straightConnector1">
            <a:avLst/>
          </a:prstGeom>
          <a:noFill/>
          <a:ln w="25400">
            <a:solidFill>
              <a:srgbClr val="C8956C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3048000" y="4182371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华南汽配城及五泉汽配城更新改造概念规划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223000" y="786397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2026.05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8956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0" cy="91440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270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400" kern="0" dirty="0">
                <a:solidFill>
                  <a:srgbClr val="C895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1905000"/>
            <a:ext cx="381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汇报提纲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921000"/>
            <a:ext cx="762000" cy="0"/>
          </a:xfrm>
          <a:prstGeom prst="straightConnector1">
            <a:avLst/>
          </a:prstGeom>
          <a:noFill/>
          <a:ln w="38100">
            <a:solidFill>
              <a:srgbClr val="C8956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62000" y="33020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本汇报围绕项目背景、改造规划、申请要点与综合价值四个维度展开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50000" y="1270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C895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3000" y="1270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项目背景与现状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3000" y="1778000"/>
            <a:ext cx="711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C8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高危物业结构鉴定与区位分析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0000" y="2476500"/>
            <a:ext cx="838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6350000" y="2794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C895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3000" y="2794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改造规划方案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3000" y="3302000"/>
            <a:ext cx="711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C8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3号院运动小镇与2号院屋顶网球场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50000" y="4000500"/>
            <a:ext cx="838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6350000" y="4318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C895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93000" y="4318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改造申请要点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3000" y="4826000"/>
            <a:ext cx="711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C8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建筑边界、高度与外立面调整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50000" y="5524500"/>
            <a:ext cx="838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6350000" y="5842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C895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93000" y="5842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运营与综合价值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93000" y="6350000"/>
            <a:ext cx="711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C8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同步运营规划与社会经济效益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C8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5a1c72c04793c515d826e838af83c32c9d347549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9922" b="9922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6000" y="2286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FFFFFF">
                    <a:alpha val="1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016000" y="3937000"/>
            <a:ext cx="1016000" cy="0"/>
          </a:xfrm>
          <a:prstGeom prst="straightConnector1">
            <a:avLst/>
          </a:prstGeom>
          <a:noFill/>
          <a:ln w="38100">
            <a:solidFill>
              <a:srgbClr val="C8956C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016000" y="4191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项目背景与现状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16000" y="5207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3号院8栋物业结构鉴定全部为高危等级，亟需改造消除安全隐患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4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3号院全部8栋物业结构鉴定为高危等级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62000" y="1117600"/>
            <a:ext cx="1524000" cy="355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117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极高风险 · 立即停用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16002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21#、18-3#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违建加建严重、柱承载力不足、钢构锈蚀 | 建议立即清空人员，实施整体拆除或加固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590800"/>
            <a:ext cx="1524000" cy="3556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5908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高风险 · 限期停用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0734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18-1#、18-2#、19#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违建现浇板、混凝土强度不足、抗震构造缺失 | 建议15日内完成人员清退，开展专项加固设计或拆除方案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064000"/>
            <a:ext cx="1524000" cy="355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4064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中风险 · 监控停用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5466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17#、20#、18#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基础沉降、屋面加建、构件锈蚀 | 建议停止新增荷载，开展实时沉降与裂缝监测，制定拆除计划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558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结构鉴定汇总表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096000"/>
          <a:ext cx="14732000" cy="2413000"/>
        </p:xfrm>
        <a:graphic>
          <a:graphicData uri="http://schemas.openxmlformats.org/drawingml/2006/table">
            <a:tbl>
              <a:tblPr/>
              <a:tblGrid>
                <a:gridCol w="1473200"/>
                <a:gridCol w="1767840"/>
                <a:gridCol w="1767840"/>
                <a:gridCol w="2062480"/>
                <a:gridCol w="2062480"/>
                <a:gridCol w="2651760"/>
                <a:gridCol w="2946400"/>
              </a:tblGrid>
              <a:tr h="487734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楼栋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结构类型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层数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建筑面积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可靠性等级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安全等级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抗震能力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</a:tr>
              <a:tr h="38505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17#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钢筋混凝土框架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2层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约280㎡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IV级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Du级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不满足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05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18#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钢筋混凝土框架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2层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约48㎡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IV级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Du级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不满足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  <a:tr h="38505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18-1~3#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钢筋混凝土框架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2层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约830㎡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IV级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Du级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不满足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05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19#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钢筋混凝土框架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2层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约512㎡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IV级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Du级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不满足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  <a:tr h="38505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20#、21#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框架/轻钢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1-3层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约702㎡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IV级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Du级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不满足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62000" y="8636000"/>
            <a:ext cx="14732000" cy="3810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17" name="Text 14"/>
          <p:cNvSpPr/>
          <p:nvPr/>
        </p:nvSpPr>
        <p:spPr>
          <a:xfrm>
            <a:off x="762000" y="8636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结论：所有建筑结构安全等级为Du级，应立即进行安全加固或改造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5240000" y="127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C8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项目区位：白云山畔的城市更新核心节点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6350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C8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项目位置分布示意图（3号大院与2号大院）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890000" y="1143000"/>
            <a:ext cx="6604000" cy="546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71000" y="13970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区位分析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271000" y="1968500"/>
            <a:ext cx="584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9271000" y="2159000"/>
            <a:ext cx="5842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地理位置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广州市白云区，毗邻白云山风景区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广州环城高速与广园快速路交汇处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3号大院（五泉汽配城）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位于高速北侧，8栋建筑（17#-21#及18-1#至18-3#）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2号大院（华南汽配城）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位于高速南侧，包含11#、14#、15#等建筑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核心优势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紧邻白云山自然景观，具备"山景+运动"融合的天然条件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112000"/>
            <a:ext cx="14732000" cy="1143000"/>
          </a:xfrm>
          <a:prstGeom prst="rect">
            <a:avLst/>
          </a:prstGeom>
          <a:solidFill>
            <a:srgbClr val="C0392B">
              <a:alpha val="8235"/>
            </a:srgbClr>
          </a:solidFill>
          <a:ln w="12700">
            <a:solidFill>
              <a:srgbClr val="C0392B">
                <a:alpha val="25098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7366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201439" y="0"/>
                  <a:pt x="211485" y="6028"/>
                  <a:pt x="216694" y="15627"/>
                </a:cubicBezTo>
                <a:lnTo>
                  <a:pt x="377428" y="313283"/>
                </a:lnTo>
                <a:cubicBezTo>
                  <a:pt x="382414" y="322511"/>
                  <a:pt x="382191" y="333673"/>
                  <a:pt x="376833" y="342677"/>
                </a:cubicBezTo>
                <a:cubicBezTo>
                  <a:pt x="371475" y="351681"/>
                  <a:pt x="361727" y="357188"/>
                  <a:pt x="351234" y="357188"/>
                </a:cubicBezTo>
                <a:lnTo>
                  <a:pt x="29766" y="357188"/>
                </a:lnTo>
                <a:cubicBezTo>
                  <a:pt x="19273" y="357188"/>
                  <a:pt x="9599" y="351681"/>
                  <a:pt x="4167" y="342677"/>
                </a:cubicBezTo>
                <a:cubicBezTo>
                  <a:pt x="-1265" y="333673"/>
                  <a:pt x="-1414" y="322511"/>
                  <a:pt x="3572" y="313283"/>
                </a:cubicBezTo>
                <a:lnTo>
                  <a:pt x="164306" y="15627"/>
                </a:lnTo>
                <a:cubicBezTo>
                  <a:pt x="169515" y="6028"/>
                  <a:pt x="179561" y="0"/>
                  <a:pt x="190500" y="0"/>
                </a:cubicBezTo>
                <a:close/>
                <a:moveTo>
                  <a:pt x="190500" y="125016"/>
                </a:moveTo>
                <a:cubicBezTo>
                  <a:pt x="180603" y="125016"/>
                  <a:pt x="172641" y="132978"/>
                  <a:pt x="172641" y="142875"/>
                </a:cubicBezTo>
                <a:lnTo>
                  <a:pt x="172641" y="226219"/>
                </a:lnTo>
                <a:cubicBezTo>
                  <a:pt x="172641" y="236116"/>
                  <a:pt x="180603" y="244078"/>
                  <a:pt x="190500" y="244078"/>
                </a:cubicBezTo>
                <a:cubicBezTo>
                  <a:pt x="200397" y="244078"/>
                  <a:pt x="208359" y="236116"/>
                  <a:pt x="208359" y="226219"/>
                </a:cubicBezTo>
                <a:lnTo>
                  <a:pt x="208359" y="142875"/>
                </a:lnTo>
                <a:cubicBezTo>
                  <a:pt x="208359" y="132978"/>
                  <a:pt x="200397" y="125016"/>
                  <a:pt x="190500" y="125016"/>
                </a:cubicBezTo>
                <a:close/>
                <a:moveTo>
                  <a:pt x="210369" y="285750"/>
                </a:moveTo>
                <a:cubicBezTo>
                  <a:pt x="210821" y="278375"/>
                  <a:pt x="207143" y="271358"/>
                  <a:pt x="200820" y="267534"/>
                </a:cubicBezTo>
                <a:cubicBezTo>
                  <a:pt x="194498" y="263710"/>
                  <a:pt x="186576" y="263710"/>
                  <a:pt x="180254" y="267534"/>
                </a:cubicBezTo>
                <a:cubicBezTo>
                  <a:pt x="173932" y="271358"/>
                  <a:pt x="170254" y="278375"/>
                  <a:pt x="170706" y="285750"/>
                </a:cubicBezTo>
                <a:cubicBezTo>
                  <a:pt x="170254" y="293125"/>
                  <a:pt x="173932" y="300142"/>
                  <a:pt x="180254" y="303966"/>
                </a:cubicBezTo>
                <a:cubicBezTo>
                  <a:pt x="186576" y="307790"/>
                  <a:pt x="194498" y="307790"/>
                  <a:pt x="200820" y="303966"/>
                </a:cubicBezTo>
                <a:cubicBezTo>
                  <a:pt x="207143" y="300142"/>
                  <a:pt x="210821" y="293125"/>
                  <a:pt x="210369" y="285750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1714500" y="7302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现状痛点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14500" y="7747000"/>
            <a:ext cx="1333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建筑老旧、结构高危、功能低效，与周边城市发展和白云山景观资源严重不匹配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C8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malaymail.com/f5b45e67c1997005a382973f2e9d3d5d8a960fd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12500" b="1250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6000" y="2286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FFFFFF">
                    <a:alpha val="1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016000" y="3937000"/>
            <a:ext cx="1016000" cy="0"/>
          </a:xfrm>
          <a:prstGeom prst="straightConnector1">
            <a:avLst/>
          </a:prstGeom>
          <a:noFill/>
          <a:ln w="38100">
            <a:solidFill>
              <a:srgbClr val="C8956C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016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改造规划方案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16000" y="5207000"/>
            <a:ext cx="1270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山屿潜境 · 水陆空全维度运动度假小镇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4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3号院：山景沉浸式潜水极限运动小镇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pic>
        <p:nvPicPr>
          <p:cNvPr id="5" name="Image 0" descr="https://kimi-web-img.moonshot.cn/img/www.malaymail.com/f5b45e67c1997005a382973f2e9d3d5d8a960fdc.jpg">    </p:cNvPr>
          <p:cNvPicPr>
            <a:picLocks noChangeAspect="1"/>
          </p:cNvPicPr>
          <p:nvPr/>
        </p:nvPicPr>
        <p:blipFill>
          <a:blip r:embed="rId1"/>
          <a:srcRect l="0" r="0" t="8333" b="8333"/>
          <a:stretch/>
        </p:blipFill>
        <p:spPr>
          <a:xfrm>
            <a:off x="762000" y="1117600"/>
            <a:ext cx="6096000" cy="381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2000" y="5003800"/>
            <a:ext cx="609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C8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深潜池剖面示意 · 10米专业深潜体验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66000" y="1117600"/>
            <a:ext cx="812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核心定位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国内首个依山而建、山景与水下场景双向融合的城市深潜综合体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核心亮点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"上山瞰城、入水观境"，兼具专业运动、潮玩社交、公益便民三重属性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设计理念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山水分生 · 微改低干预 · 专业打底 · 立体高效 · 公益平衡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建筑改造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保留工业肌理，"工业灰+深海蓝+山麓橙"配色，双首层、空中连廊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46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功能分区（用地8000㎡）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62000" y="6032500"/>
            <a:ext cx="3429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16000" y="622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5175" y="86191"/>
                </a:moveTo>
                <a:cubicBezTo>
                  <a:pt x="299551" y="97026"/>
                  <a:pt x="317123" y="107513"/>
                  <a:pt x="336709" y="110153"/>
                </a:cubicBezTo>
                <a:cubicBezTo>
                  <a:pt x="345807" y="111403"/>
                  <a:pt x="354211" y="104944"/>
                  <a:pt x="355461" y="95845"/>
                </a:cubicBezTo>
                <a:cubicBezTo>
                  <a:pt x="356711" y="86747"/>
                  <a:pt x="350252" y="78343"/>
                  <a:pt x="341154" y="77093"/>
                </a:cubicBezTo>
                <a:cubicBezTo>
                  <a:pt x="330111" y="75634"/>
                  <a:pt x="318095" y="69245"/>
                  <a:pt x="305246" y="59591"/>
                </a:cubicBezTo>
                <a:cubicBezTo>
                  <a:pt x="278576" y="39449"/>
                  <a:pt x="242391" y="39449"/>
                  <a:pt x="215652" y="59591"/>
                </a:cubicBezTo>
                <a:cubicBezTo>
                  <a:pt x="198983" y="72162"/>
                  <a:pt x="187385" y="77857"/>
                  <a:pt x="177800" y="77857"/>
                </a:cubicBezTo>
                <a:cubicBezTo>
                  <a:pt x="168215" y="77857"/>
                  <a:pt x="156617" y="72162"/>
                  <a:pt x="139948" y="59591"/>
                </a:cubicBezTo>
                <a:cubicBezTo>
                  <a:pt x="113278" y="39449"/>
                  <a:pt x="77093" y="39449"/>
                  <a:pt x="50354" y="59591"/>
                </a:cubicBezTo>
                <a:cubicBezTo>
                  <a:pt x="37505" y="69245"/>
                  <a:pt x="25489" y="75634"/>
                  <a:pt x="14446" y="77093"/>
                </a:cubicBezTo>
                <a:cubicBezTo>
                  <a:pt x="5348" y="78343"/>
                  <a:pt x="-1111" y="86678"/>
                  <a:pt x="139" y="95845"/>
                </a:cubicBezTo>
                <a:cubicBezTo>
                  <a:pt x="1389" y="105013"/>
                  <a:pt x="9723" y="111403"/>
                  <a:pt x="18891" y="110153"/>
                </a:cubicBezTo>
                <a:cubicBezTo>
                  <a:pt x="38477" y="107513"/>
                  <a:pt x="56118" y="97026"/>
                  <a:pt x="70425" y="86191"/>
                </a:cubicBezTo>
                <a:cubicBezTo>
                  <a:pt x="85219" y="75009"/>
                  <a:pt x="105083" y="75009"/>
                  <a:pt x="119876" y="86191"/>
                </a:cubicBezTo>
                <a:cubicBezTo>
                  <a:pt x="136684" y="98901"/>
                  <a:pt x="156200" y="111125"/>
                  <a:pt x="177800" y="111125"/>
                </a:cubicBezTo>
                <a:cubicBezTo>
                  <a:pt x="199400" y="111125"/>
                  <a:pt x="218847" y="98832"/>
                  <a:pt x="235724" y="86191"/>
                </a:cubicBezTo>
                <a:cubicBezTo>
                  <a:pt x="250517" y="75009"/>
                  <a:pt x="270381" y="75009"/>
                  <a:pt x="285175" y="86191"/>
                </a:cubicBezTo>
                <a:close/>
                <a:moveTo>
                  <a:pt x="285175" y="186204"/>
                </a:moveTo>
                <a:cubicBezTo>
                  <a:pt x="299551" y="197039"/>
                  <a:pt x="317123" y="207526"/>
                  <a:pt x="336709" y="210165"/>
                </a:cubicBezTo>
                <a:cubicBezTo>
                  <a:pt x="345807" y="211415"/>
                  <a:pt x="354211" y="204956"/>
                  <a:pt x="355461" y="195858"/>
                </a:cubicBezTo>
                <a:cubicBezTo>
                  <a:pt x="356711" y="186759"/>
                  <a:pt x="350252" y="178356"/>
                  <a:pt x="341154" y="177105"/>
                </a:cubicBezTo>
                <a:cubicBezTo>
                  <a:pt x="330111" y="175647"/>
                  <a:pt x="318095" y="169257"/>
                  <a:pt x="305246" y="159603"/>
                </a:cubicBezTo>
                <a:cubicBezTo>
                  <a:pt x="278576" y="139462"/>
                  <a:pt x="242391" y="139462"/>
                  <a:pt x="215652" y="159603"/>
                </a:cubicBezTo>
                <a:cubicBezTo>
                  <a:pt x="198983" y="172174"/>
                  <a:pt x="187385" y="177869"/>
                  <a:pt x="177800" y="177869"/>
                </a:cubicBezTo>
                <a:cubicBezTo>
                  <a:pt x="168215" y="177869"/>
                  <a:pt x="156617" y="172174"/>
                  <a:pt x="139948" y="159603"/>
                </a:cubicBezTo>
                <a:cubicBezTo>
                  <a:pt x="113278" y="139462"/>
                  <a:pt x="77093" y="139462"/>
                  <a:pt x="50354" y="159603"/>
                </a:cubicBezTo>
                <a:cubicBezTo>
                  <a:pt x="37505" y="169257"/>
                  <a:pt x="25489" y="175647"/>
                  <a:pt x="14446" y="177105"/>
                </a:cubicBezTo>
                <a:cubicBezTo>
                  <a:pt x="5348" y="178286"/>
                  <a:pt x="-1111" y="186690"/>
                  <a:pt x="139" y="195858"/>
                </a:cubicBezTo>
                <a:cubicBezTo>
                  <a:pt x="1389" y="205026"/>
                  <a:pt x="9723" y="211415"/>
                  <a:pt x="18891" y="210165"/>
                </a:cubicBezTo>
                <a:cubicBezTo>
                  <a:pt x="38477" y="207526"/>
                  <a:pt x="56118" y="197039"/>
                  <a:pt x="70425" y="186204"/>
                </a:cubicBezTo>
                <a:cubicBezTo>
                  <a:pt x="85219" y="175022"/>
                  <a:pt x="105083" y="175022"/>
                  <a:pt x="119876" y="186204"/>
                </a:cubicBezTo>
                <a:cubicBezTo>
                  <a:pt x="136684" y="198914"/>
                  <a:pt x="156200" y="211138"/>
                  <a:pt x="177800" y="211138"/>
                </a:cubicBezTo>
                <a:cubicBezTo>
                  <a:pt x="199400" y="211138"/>
                  <a:pt x="218847" y="198844"/>
                  <a:pt x="235724" y="186204"/>
                </a:cubicBezTo>
                <a:cubicBezTo>
                  <a:pt x="250517" y="175022"/>
                  <a:pt x="270381" y="175022"/>
                  <a:pt x="285175" y="186204"/>
                </a:cubicBezTo>
                <a:close/>
                <a:moveTo>
                  <a:pt x="235724" y="286216"/>
                </a:moveTo>
                <a:cubicBezTo>
                  <a:pt x="250517" y="275034"/>
                  <a:pt x="270381" y="275034"/>
                  <a:pt x="285175" y="286216"/>
                </a:cubicBezTo>
                <a:cubicBezTo>
                  <a:pt x="299551" y="297051"/>
                  <a:pt x="317123" y="307538"/>
                  <a:pt x="336709" y="310178"/>
                </a:cubicBezTo>
                <a:cubicBezTo>
                  <a:pt x="345807" y="311428"/>
                  <a:pt x="354211" y="304969"/>
                  <a:pt x="355461" y="295870"/>
                </a:cubicBezTo>
                <a:cubicBezTo>
                  <a:pt x="356711" y="286772"/>
                  <a:pt x="350252" y="278368"/>
                  <a:pt x="341154" y="277118"/>
                </a:cubicBezTo>
                <a:cubicBezTo>
                  <a:pt x="330111" y="275659"/>
                  <a:pt x="318095" y="269270"/>
                  <a:pt x="305246" y="259616"/>
                </a:cubicBezTo>
                <a:cubicBezTo>
                  <a:pt x="278576" y="239474"/>
                  <a:pt x="242391" y="239474"/>
                  <a:pt x="215652" y="259616"/>
                </a:cubicBezTo>
                <a:cubicBezTo>
                  <a:pt x="198983" y="272187"/>
                  <a:pt x="187385" y="277882"/>
                  <a:pt x="177800" y="277882"/>
                </a:cubicBezTo>
                <a:cubicBezTo>
                  <a:pt x="168215" y="277882"/>
                  <a:pt x="156617" y="272187"/>
                  <a:pt x="139948" y="259616"/>
                </a:cubicBezTo>
                <a:cubicBezTo>
                  <a:pt x="113278" y="239474"/>
                  <a:pt x="77093" y="239474"/>
                  <a:pt x="50354" y="259616"/>
                </a:cubicBezTo>
                <a:cubicBezTo>
                  <a:pt x="37505" y="269270"/>
                  <a:pt x="25489" y="275659"/>
                  <a:pt x="14446" y="277118"/>
                </a:cubicBezTo>
                <a:cubicBezTo>
                  <a:pt x="5348" y="278368"/>
                  <a:pt x="-1111" y="286703"/>
                  <a:pt x="139" y="295870"/>
                </a:cubicBezTo>
                <a:cubicBezTo>
                  <a:pt x="1389" y="305038"/>
                  <a:pt x="9723" y="311428"/>
                  <a:pt x="18891" y="310178"/>
                </a:cubicBezTo>
                <a:cubicBezTo>
                  <a:pt x="38477" y="307538"/>
                  <a:pt x="56118" y="297051"/>
                  <a:pt x="70425" y="286216"/>
                </a:cubicBezTo>
                <a:cubicBezTo>
                  <a:pt x="85219" y="275034"/>
                  <a:pt x="105083" y="275034"/>
                  <a:pt x="119876" y="286216"/>
                </a:cubicBezTo>
                <a:cubicBezTo>
                  <a:pt x="136684" y="298926"/>
                  <a:pt x="156200" y="311150"/>
                  <a:pt x="177800" y="311150"/>
                </a:cubicBezTo>
                <a:cubicBezTo>
                  <a:pt x="199400" y="311150"/>
                  <a:pt x="218847" y="298857"/>
                  <a:pt x="235724" y="286216"/>
                </a:cubicBezTo>
                <a:close/>
              </a:path>
            </a:pathLst>
          </a:custGeom>
          <a:solidFill>
            <a:srgbClr val="1B4D3E"/>
          </a:solidFill>
          <a:ln/>
        </p:spPr>
      </p:sp>
      <p:sp>
        <p:nvSpPr>
          <p:cNvPr id="11" name="Text 8"/>
          <p:cNvSpPr/>
          <p:nvPr/>
        </p:nvSpPr>
        <p:spPr>
          <a:xfrm>
            <a:off x="1498600" y="6223000"/>
            <a:ext cx="241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核心区 3772㎡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16000" y="6731000"/>
            <a:ext cx="292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50米国标恒温泳池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10米深潜池+专业培训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潜水主题酒店20间客房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配套商业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445000" y="6032500"/>
            <a:ext cx="3429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99000" y="622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8147" y="0"/>
                </a:moveTo>
                <a:cubicBezTo>
                  <a:pt x="188357" y="0"/>
                  <a:pt x="197733" y="5626"/>
                  <a:pt x="202595" y="14585"/>
                </a:cubicBezTo>
                <a:lnTo>
                  <a:pt x="352614" y="292398"/>
                </a:lnTo>
                <a:cubicBezTo>
                  <a:pt x="357267" y="301010"/>
                  <a:pt x="357059" y="311428"/>
                  <a:pt x="352058" y="319832"/>
                </a:cubicBezTo>
                <a:cubicBezTo>
                  <a:pt x="347057" y="328235"/>
                  <a:pt x="337959" y="333375"/>
                  <a:pt x="328235" y="333375"/>
                </a:cubicBezTo>
                <a:lnTo>
                  <a:pt x="28198" y="333375"/>
                </a:lnTo>
                <a:cubicBezTo>
                  <a:pt x="18405" y="333375"/>
                  <a:pt x="9376" y="328235"/>
                  <a:pt x="4376" y="319832"/>
                </a:cubicBezTo>
                <a:cubicBezTo>
                  <a:pt x="-625" y="311428"/>
                  <a:pt x="-833" y="301010"/>
                  <a:pt x="3820" y="292398"/>
                </a:cubicBezTo>
                <a:lnTo>
                  <a:pt x="153839" y="14585"/>
                </a:lnTo>
                <a:lnTo>
                  <a:pt x="155853" y="11390"/>
                </a:lnTo>
                <a:cubicBezTo>
                  <a:pt x="160923" y="4306"/>
                  <a:pt x="169188" y="0"/>
                  <a:pt x="178147" y="0"/>
                </a:cubicBezTo>
                <a:close/>
                <a:moveTo>
                  <a:pt x="118348" y="173563"/>
                </a:moveTo>
                <a:lnTo>
                  <a:pt x="136962" y="192177"/>
                </a:lnTo>
                <a:cubicBezTo>
                  <a:pt x="141268" y="196483"/>
                  <a:pt x="148352" y="196483"/>
                  <a:pt x="152658" y="192177"/>
                </a:cubicBezTo>
                <a:lnTo>
                  <a:pt x="182731" y="162104"/>
                </a:lnTo>
                <a:cubicBezTo>
                  <a:pt x="186898" y="157936"/>
                  <a:pt x="192524" y="155575"/>
                  <a:pt x="198428" y="155575"/>
                </a:cubicBezTo>
                <a:lnTo>
                  <a:pt x="228154" y="155575"/>
                </a:lnTo>
                <a:lnTo>
                  <a:pt x="178078" y="62855"/>
                </a:lnTo>
                <a:lnTo>
                  <a:pt x="118279" y="173563"/>
                </a:lnTo>
                <a:close/>
              </a:path>
            </a:pathLst>
          </a:custGeom>
          <a:solidFill>
            <a:srgbClr val="1B4D3E"/>
          </a:solidFill>
          <a:ln/>
        </p:spPr>
      </p:sp>
      <p:sp>
        <p:nvSpPr>
          <p:cNvPr id="15" name="Text 12"/>
          <p:cNvSpPr/>
          <p:nvPr/>
        </p:nvSpPr>
        <p:spPr>
          <a:xfrm>
            <a:off x="5181600" y="6223000"/>
            <a:ext cx="241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特色区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99000" y="6731000"/>
            <a:ext cx="292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风洞跳伞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室内蹦极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高空滑索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极限运动体验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128000" y="6032500"/>
            <a:ext cx="3429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82000" y="622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202333" y="0"/>
                  <a:pt x="222250" y="19917"/>
                  <a:pt x="222250" y="44450"/>
                </a:cubicBezTo>
                <a:cubicBezTo>
                  <a:pt x="222250" y="68983"/>
                  <a:pt x="202333" y="88900"/>
                  <a:pt x="177800" y="88900"/>
                </a:cubicBezTo>
                <a:cubicBezTo>
                  <a:pt x="153267" y="88900"/>
                  <a:pt x="133350" y="68983"/>
                  <a:pt x="133350" y="44450"/>
                </a:cubicBezTo>
                <a:cubicBezTo>
                  <a:pt x="133350" y="19917"/>
                  <a:pt x="153267" y="0"/>
                  <a:pt x="177800" y="0"/>
                </a:cubicBezTo>
                <a:close/>
                <a:moveTo>
                  <a:pt x="244475" y="216694"/>
                </a:moveTo>
                <a:cubicBezTo>
                  <a:pt x="244475" y="234057"/>
                  <a:pt x="235654" y="249337"/>
                  <a:pt x="222250" y="258296"/>
                </a:cubicBezTo>
                <a:lnTo>
                  <a:pt x="222250" y="322263"/>
                </a:lnTo>
                <a:cubicBezTo>
                  <a:pt x="222250" y="340668"/>
                  <a:pt x="207318" y="355600"/>
                  <a:pt x="188913" y="355600"/>
                </a:cubicBezTo>
                <a:lnTo>
                  <a:pt x="166688" y="355600"/>
                </a:lnTo>
                <a:cubicBezTo>
                  <a:pt x="148282" y="355600"/>
                  <a:pt x="133350" y="340668"/>
                  <a:pt x="133350" y="322263"/>
                </a:cubicBezTo>
                <a:lnTo>
                  <a:pt x="133350" y="258296"/>
                </a:lnTo>
                <a:cubicBezTo>
                  <a:pt x="119946" y="249337"/>
                  <a:pt x="111125" y="234057"/>
                  <a:pt x="111125" y="216694"/>
                </a:cubicBezTo>
                <a:lnTo>
                  <a:pt x="111125" y="188913"/>
                </a:lnTo>
                <a:cubicBezTo>
                  <a:pt x="111125" y="152102"/>
                  <a:pt x="140990" y="122238"/>
                  <a:pt x="177800" y="122238"/>
                </a:cubicBezTo>
                <a:cubicBezTo>
                  <a:pt x="214610" y="122238"/>
                  <a:pt x="244475" y="152102"/>
                  <a:pt x="244475" y="188913"/>
                </a:cubicBezTo>
                <a:lnTo>
                  <a:pt x="244475" y="216694"/>
                </a:lnTo>
                <a:close/>
                <a:moveTo>
                  <a:pt x="66675" y="22225"/>
                </a:moveTo>
                <a:cubicBezTo>
                  <a:pt x="88141" y="22225"/>
                  <a:pt x="105569" y="39653"/>
                  <a:pt x="105569" y="61119"/>
                </a:cubicBezTo>
                <a:cubicBezTo>
                  <a:pt x="105569" y="82585"/>
                  <a:pt x="88141" y="100013"/>
                  <a:pt x="66675" y="100013"/>
                </a:cubicBezTo>
                <a:cubicBezTo>
                  <a:pt x="45209" y="100013"/>
                  <a:pt x="27781" y="82585"/>
                  <a:pt x="27781" y="61119"/>
                </a:cubicBezTo>
                <a:cubicBezTo>
                  <a:pt x="27781" y="39653"/>
                  <a:pt x="45209" y="22225"/>
                  <a:pt x="66675" y="22225"/>
                </a:cubicBezTo>
                <a:close/>
                <a:moveTo>
                  <a:pt x="77788" y="188913"/>
                </a:moveTo>
                <a:lnTo>
                  <a:pt x="77788" y="211138"/>
                </a:lnTo>
                <a:cubicBezTo>
                  <a:pt x="77788" y="233710"/>
                  <a:pt x="86191" y="254268"/>
                  <a:pt x="100013" y="269964"/>
                </a:cubicBezTo>
                <a:lnTo>
                  <a:pt x="100013" y="322263"/>
                </a:lnTo>
                <a:cubicBezTo>
                  <a:pt x="100013" y="323096"/>
                  <a:pt x="100013" y="323999"/>
                  <a:pt x="100082" y="324832"/>
                </a:cubicBezTo>
                <a:cubicBezTo>
                  <a:pt x="94178" y="330111"/>
                  <a:pt x="86400" y="333375"/>
                  <a:pt x="77788" y="333375"/>
                </a:cubicBezTo>
                <a:lnTo>
                  <a:pt x="55563" y="333375"/>
                </a:lnTo>
                <a:cubicBezTo>
                  <a:pt x="37157" y="333375"/>
                  <a:pt x="22225" y="318443"/>
                  <a:pt x="22225" y="300038"/>
                </a:cubicBezTo>
                <a:lnTo>
                  <a:pt x="22225" y="260727"/>
                </a:lnTo>
                <a:cubicBezTo>
                  <a:pt x="8959" y="253087"/>
                  <a:pt x="0" y="238710"/>
                  <a:pt x="0" y="222250"/>
                </a:cubicBezTo>
                <a:lnTo>
                  <a:pt x="0" y="200025"/>
                </a:lnTo>
                <a:cubicBezTo>
                  <a:pt x="0" y="163215"/>
                  <a:pt x="29865" y="133350"/>
                  <a:pt x="66675" y="133350"/>
                </a:cubicBezTo>
                <a:cubicBezTo>
                  <a:pt x="75496" y="133350"/>
                  <a:pt x="83899" y="135086"/>
                  <a:pt x="91609" y="138142"/>
                </a:cubicBezTo>
                <a:cubicBezTo>
                  <a:pt x="82858" y="153005"/>
                  <a:pt x="77788" y="170369"/>
                  <a:pt x="77788" y="188913"/>
                </a:cubicBezTo>
                <a:close/>
                <a:moveTo>
                  <a:pt x="255587" y="322263"/>
                </a:moveTo>
                <a:lnTo>
                  <a:pt x="255587" y="269964"/>
                </a:lnTo>
                <a:cubicBezTo>
                  <a:pt x="269409" y="254337"/>
                  <a:pt x="277813" y="233710"/>
                  <a:pt x="277813" y="211138"/>
                </a:cubicBezTo>
                <a:lnTo>
                  <a:pt x="277813" y="188913"/>
                </a:lnTo>
                <a:cubicBezTo>
                  <a:pt x="277813" y="170369"/>
                  <a:pt x="272742" y="153075"/>
                  <a:pt x="263991" y="138142"/>
                </a:cubicBezTo>
                <a:cubicBezTo>
                  <a:pt x="271701" y="135017"/>
                  <a:pt x="280104" y="133350"/>
                  <a:pt x="288925" y="133350"/>
                </a:cubicBezTo>
                <a:cubicBezTo>
                  <a:pt x="325735" y="133350"/>
                  <a:pt x="355600" y="163215"/>
                  <a:pt x="355600" y="200025"/>
                </a:cubicBezTo>
                <a:lnTo>
                  <a:pt x="355600" y="222250"/>
                </a:lnTo>
                <a:cubicBezTo>
                  <a:pt x="355600" y="238710"/>
                  <a:pt x="346641" y="253087"/>
                  <a:pt x="333375" y="260727"/>
                </a:cubicBezTo>
                <a:lnTo>
                  <a:pt x="333375" y="300038"/>
                </a:lnTo>
                <a:cubicBezTo>
                  <a:pt x="333375" y="318443"/>
                  <a:pt x="318443" y="333375"/>
                  <a:pt x="300038" y="333375"/>
                </a:cubicBezTo>
                <a:lnTo>
                  <a:pt x="277813" y="333375"/>
                </a:lnTo>
                <a:cubicBezTo>
                  <a:pt x="269270" y="333375"/>
                  <a:pt x="261422" y="330180"/>
                  <a:pt x="255518" y="324832"/>
                </a:cubicBezTo>
                <a:cubicBezTo>
                  <a:pt x="255518" y="323999"/>
                  <a:pt x="255587" y="323096"/>
                  <a:pt x="255587" y="322263"/>
                </a:cubicBezTo>
                <a:close/>
                <a:moveTo>
                  <a:pt x="288925" y="22225"/>
                </a:moveTo>
                <a:cubicBezTo>
                  <a:pt x="310391" y="22225"/>
                  <a:pt x="327819" y="39653"/>
                  <a:pt x="327819" y="61119"/>
                </a:cubicBezTo>
                <a:cubicBezTo>
                  <a:pt x="327819" y="82585"/>
                  <a:pt x="310391" y="100013"/>
                  <a:pt x="288925" y="100013"/>
                </a:cubicBezTo>
                <a:cubicBezTo>
                  <a:pt x="267459" y="100013"/>
                  <a:pt x="250031" y="82585"/>
                  <a:pt x="250031" y="61119"/>
                </a:cubicBezTo>
                <a:cubicBezTo>
                  <a:pt x="250031" y="39653"/>
                  <a:pt x="267459" y="22225"/>
                  <a:pt x="288925" y="22225"/>
                </a:cubicBezTo>
                <a:close/>
              </a:path>
            </a:pathLst>
          </a:custGeom>
          <a:solidFill>
            <a:srgbClr val="1B4D3E"/>
          </a:solidFill>
          <a:ln/>
        </p:spPr>
      </p:sp>
      <p:sp>
        <p:nvSpPr>
          <p:cNvPr id="19" name="Text 16"/>
          <p:cNvSpPr/>
          <p:nvPr/>
        </p:nvSpPr>
        <p:spPr>
          <a:xfrm>
            <a:off x="8864600" y="6223000"/>
            <a:ext cx="241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公益区（桥下）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382000" y="6731000"/>
            <a:ext cx="292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免费开放运动场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服务周边社区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补充城市运动场地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全民健身公益配套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1811000" y="6032500"/>
            <a:ext cx="3683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2087225" y="6223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133350" y="177800"/>
                </a:moveTo>
                <a:lnTo>
                  <a:pt x="166688" y="177800"/>
                </a:lnTo>
                <a:cubicBezTo>
                  <a:pt x="178981" y="177800"/>
                  <a:pt x="188913" y="167868"/>
                  <a:pt x="188913" y="155575"/>
                </a:cubicBezTo>
                <a:cubicBezTo>
                  <a:pt x="188913" y="143282"/>
                  <a:pt x="178981" y="133350"/>
                  <a:pt x="166688" y="133350"/>
                </a:cubicBezTo>
                <a:lnTo>
                  <a:pt x="133350" y="133350"/>
                </a:lnTo>
                <a:lnTo>
                  <a:pt x="133350" y="177800"/>
                </a:lnTo>
                <a:close/>
                <a:moveTo>
                  <a:pt x="166688" y="222250"/>
                </a:moveTo>
                <a:lnTo>
                  <a:pt x="133350" y="222250"/>
                </a:lnTo>
                <a:lnTo>
                  <a:pt x="133350" y="244475"/>
                </a:lnTo>
                <a:cubicBezTo>
                  <a:pt x="133350" y="256768"/>
                  <a:pt x="123418" y="266700"/>
                  <a:pt x="111125" y="266700"/>
                </a:cubicBezTo>
                <a:cubicBezTo>
                  <a:pt x="98832" y="266700"/>
                  <a:pt x="88900" y="256768"/>
                  <a:pt x="88900" y="244475"/>
                </a:cubicBezTo>
                <a:lnTo>
                  <a:pt x="88900" y="116681"/>
                </a:lnTo>
                <a:cubicBezTo>
                  <a:pt x="88900" y="101332"/>
                  <a:pt x="101332" y="88900"/>
                  <a:pt x="116681" y="88900"/>
                </a:cubicBezTo>
                <a:lnTo>
                  <a:pt x="166688" y="88900"/>
                </a:lnTo>
                <a:cubicBezTo>
                  <a:pt x="203498" y="88900"/>
                  <a:pt x="233363" y="118765"/>
                  <a:pt x="233363" y="155575"/>
                </a:cubicBezTo>
                <a:cubicBezTo>
                  <a:pt x="233363" y="192385"/>
                  <a:pt x="203498" y="222250"/>
                  <a:pt x="166688" y="222250"/>
                </a:cubicBezTo>
                <a:close/>
              </a:path>
            </a:pathLst>
          </a:custGeom>
          <a:solidFill>
            <a:srgbClr val="1B4D3E"/>
          </a:solidFill>
          <a:ln/>
        </p:spPr>
      </p:sp>
      <p:sp>
        <p:nvSpPr>
          <p:cNvPr id="23" name="Text 20"/>
          <p:cNvSpPr/>
          <p:nvPr/>
        </p:nvSpPr>
        <p:spPr>
          <a:xfrm>
            <a:off x="12547600" y="6223000"/>
            <a:ext cx="266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配套区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2065000" y="6731000"/>
            <a:ext cx="317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约300泊位立体停车楼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主题入口广场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保障双院区客流可达性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C8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2号院：屋顶6片标准网球场，盘活存量空间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pic>
        <p:nvPicPr>
          <p:cNvPr id="5" name="Image 0" descr="https://kimi-web-img.moonshot.cn/img/ultracourts.com.au/5125707be9077adca8265f8e5b76c61d24c2cc1a.jpg">    </p:cNvPr>
          <p:cNvPicPr>
            <a:picLocks noChangeAspect="1"/>
          </p:cNvPicPr>
          <p:nvPr/>
        </p:nvPicPr>
        <p:blipFill>
          <a:blip r:embed="rId1"/>
          <a:srcRect l="0" r="0" t="2308" b="2308"/>
          <a:stretch/>
        </p:blipFill>
        <p:spPr>
          <a:xfrm>
            <a:off x="762000" y="1117600"/>
            <a:ext cx="6604000" cy="3937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2000" y="5130800"/>
            <a:ext cx="660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C8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屋顶网球场示意 · 高效利用建筑存量空间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874000" y="1117600"/>
            <a:ext cx="7620000" cy="1397000"/>
          </a:xfrm>
          <a:prstGeom prst="rect">
            <a:avLst/>
          </a:prstGeom>
          <a:solidFill>
            <a:srgbClr val="1B4D3E">
              <a:alpha val="6275"/>
            </a:srgbClr>
          </a:solidFill>
          <a:ln w="12700">
            <a:solidFill>
              <a:srgbClr val="1B4D3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91500" y="1333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5785" y="3542"/>
                </a:moveTo>
                <a:cubicBezTo>
                  <a:pt x="173077" y="-1181"/>
                  <a:pt x="182523" y="-1181"/>
                  <a:pt x="189815" y="3542"/>
                </a:cubicBezTo>
                <a:lnTo>
                  <a:pt x="345390" y="103555"/>
                </a:lnTo>
                <a:cubicBezTo>
                  <a:pt x="353655" y="108903"/>
                  <a:pt x="357475" y="119043"/>
                  <a:pt x="354697" y="128488"/>
                </a:cubicBezTo>
                <a:cubicBezTo>
                  <a:pt x="351919" y="137934"/>
                  <a:pt x="343237" y="144463"/>
                  <a:pt x="333375" y="144463"/>
                </a:cubicBezTo>
                <a:lnTo>
                  <a:pt x="311150" y="144463"/>
                </a:lnTo>
                <a:lnTo>
                  <a:pt x="311150" y="288925"/>
                </a:lnTo>
                <a:lnTo>
                  <a:pt x="346710" y="315595"/>
                </a:lnTo>
                <a:cubicBezTo>
                  <a:pt x="352336" y="319762"/>
                  <a:pt x="355600" y="326360"/>
                  <a:pt x="355600" y="333375"/>
                </a:cubicBezTo>
                <a:cubicBezTo>
                  <a:pt x="355600" y="345668"/>
                  <a:pt x="345668" y="355600"/>
                  <a:pt x="333375" y="355600"/>
                </a:cubicBezTo>
                <a:lnTo>
                  <a:pt x="22225" y="355600"/>
                </a:lnTo>
                <a:cubicBezTo>
                  <a:pt x="9932" y="355600"/>
                  <a:pt x="0" y="345668"/>
                  <a:pt x="0" y="333375"/>
                </a:cubicBezTo>
                <a:cubicBezTo>
                  <a:pt x="0" y="326360"/>
                  <a:pt x="3264" y="319762"/>
                  <a:pt x="8890" y="315595"/>
                </a:cubicBezTo>
                <a:lnTo>
                  <a:pt x="44450" y="288925"/>
                </a:lnTo>
                <a:lnTo>
                  <a:pt x="44450" y="288925"/>
                </a:lnTo>
                <a:lnTo>
                  <a:pt x="44450" y="144463"/>
                </a:lnTo>
                <a:lnTo>
                  <a:pt x="22225" y="144463"/>
                </a:lnTo>
                <a:cubicBezTo>
                  <a:pt x="12363" y="144463"/>
                  <a:pt x="3681" y="137934"/>
                  <a:pt x="903" y="128488"/>
                </a:cubicBezTo>
                <a:cubicBezTo>
                  <a:pt x="-1875" y="119043"/>
                  <a:pt x="1945" y="108833"/>
                  <a:pt x="10210" y="103555"/>
                </a:cubicBezTo>
                <a:lnTo>
                  <a:pt x="165785" y="3542"/>
                </a:lnTo>
                <a:close/>
                <a:moveTo>
                  <a:pt x="233363" y="144463"/>
                </a:moveTo>
                <a:lnTo>
                  <a:pt x="233363" y="288925"/>
                </a:lnTo>
                <a:lnTo>
                  <a:pt x="277813" y="288925"/>
                </a:lnTo>
                <a:lnTo>
                  <a:pt x="277813" y="144463"/>
                </a:lnTo>
                <a:lnTo>
                  <a:pt x="233363" y="144463"/>
                </a:lnTo>
                <a:close/>
                <a:moveTo>
                  <a:pt x="155575" y="288925"/>
                </a:moveTo>
                <a:lnTo>
                  <a:pt x="200025" y="288925"/>
                </a:lnTo>
                <a:lnTo>
                  <a:pt x="200025" y="144463"/>
                </a:lnTo>
                <a:lnTo>
                  <a:pt x="155575" y="144463"/>
                </a:lnTo>
                <a:lnTo>
                  <a:pt x="155575" y="288925"/>
                </a:lnTo>
                <a:close/>
                <a:moveTo>
                  <a:pt x="77788" y="144463"/>
                </a:moveTo>
                <a:lnTo>
                  <a:pt x="77788" y="288925"/>
                </a:lnTo>
                <a:lnTo>
                  <a:pt x="122238" y="288925"/>
                </a:lnTo>
                <a:lnTo>
                  <a:pt x="122238" y="144463"/>
                </a:lnTo>
                <a:lnTo>
                  <a:pt x="77788" y="144463"/>
                </a:lnTo>
                <a:close/>
              </a:path>
            </a:pathLst>
          </a:custGeom>
          <a:solidFill>
            <a:srgbClr val="1B4D3E"/>
          </a:solidFill>
          <a:ln/>
        </p:spPr>
      </p:sp>
      <p:sp>
        <p:nvSpPr>
          <p:cNvPr id="9" name="Text 6"/>
          <p:cNvSpPr/>
          <p:nvPr/>
        </p:nvSpPr>
        <p:spPr>
          <a:xfrm>
            <a:off x="8699500" y="1270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政策依据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91500" y="1752600"/>
            <a:ext cx="7048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2022年广东省《关于加强全民健身场地设施建设的实施意见》明确：可利用建筑屋顶建设各类健身设施，挖掘存量用地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874000" y="279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核心优势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210550" y="3365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00013" y="19050"/>
                </a:moveTo>
                <a:lnTo>
                  <a:pt x="14288" y="19050"/>
                </a:lnTo>
                <a:cubicBezTo>
                  <a:pt x="6370" y="19050"/>
                  <a:pt x="0" y="25420"/>
                  <a:pt x="0" y="33338"/>
                </a:cubicBezTo>
                <a:lnTo>
                  <a:pt x="0" y="119062"/>
                </a:lnTo>
                <a:cubicBezTo>
                  <a:pt x="0" y="124837"/>
                  <a:pt x="3453" y="130076"/>
                  <a:pt x="8811" y="132278"/>
                </a:cubicBezTo>
                <a:cubicBezTo>
                  <a:pt x="14168" y="134481"/>
                  <a:pt x="20300" y="133231"/>
                  <a:pt x="24408" y="129183"/>
                </a:cubicBezTo>
                <a:lnTo>
                  <a:pt x="48220" y="105370"/>
                </a:lnTo>
                <a:lnTo>
                  <a:pt x="95250" y="152400"/>
                </a:lnTo>
                <a:lnTo>
                  <a:pt x="48220" y="199430"/>
                </a:lnTo>
                <a:lnTo>
                  <a:pt x="24408" y="175617"/>
                </a:lnTo>
                <a:cubicBezTo>
                  <a:pt x="20300" y="171510"/>
                  <a:pt x="14168" y="170319"/>
                  <a:pt x="8811" y="172522"/>
                </a:cubicBezTo>
                <a:cubicBezTo>
                  <a:pt x="3453" y="174724"/>
                  <a:pt x="0" y="179963"/>
                  <a:pt x="0" y="185738"/>
                </a:cubicBezTo>
                <a:lnTo>
                  <a:pt x="0" y="271463"/>
                </a:lnTo>
                <a:cubicBezTo>
                  <a:pt x="0" y="279380"/>
                  <a:pt x="6370" y="285750"/>
                  <a:pt x="14288" y="285750"/>
                </a:cubicBezTo>
                <a:lnTo>
                  <a:pt x="100013" y="285750"/>
                </a:lnTo>
                <a:cubicBezTo>
                  <a:pt x="105787" y="285750"/>
                  <a:pt x="111026" y="282297"/>
                  <a:pt x="113228" y="276939"/>
                </a:cubicBezTo>
                <a:cubicBezTo>
                  <a:pt x="115431" y="271582"/>
                  <a:pt x="114240" y="265450"/>
                  <a:pt x="110133" y="261342"/>
                </a:cubicBezTo>
                <a:lnTo>
                  <a:pt x="86320" y="237530"/>
                </a:lnTo>
                <a:lnTo>
                  <a:pt x="133350" y="190500"/>
                </a:lnTo>
                <a:lnTo>
                  <a:pt x="180380" y="237530"/>
                </a:lnTo>
                <a:lnTo>
                  <a:pt x="156567" y="261342"/>
                </a:lnTo>
                <a:cubicBezTo>
                  <a:pt x="152460" y="265450"/>
                  <a:pt x="151269" y="271582"/>
                  <a:pt x="153472" y="276939"/>
                </a:cubicBezTo>
                <a:cubicBezTo>
                  <a:pt x="155674" y="282297"/>
                  <a:pt x="160913" y="285750"/>
                  <a:pt x="166688" y="285750"/>
                </a:cubicBezTo>
                <a:lnTo>
                  <a:pt x="252413" y="285750"/>
                </a:lnTo>
                <a:cubicBezTo>
                  <a:pt x="260330" y="285750"/>
                  <a:pt x="266700" y="279380"/>
                  <a:pt x="266700" y="271463"/>
                </a:cubicBezTo>
                <a:lnTo>
                  <a:pt x="266700" y="185738"/>
                </a:lnTo>
                <a:cubicBezTo>
                  <a:pt x="266700" y="179963"/>
                  <a:pt x="263247" y="174724"/>
                  <a:pt x="257889" y="172522"/>
                </a:cubicBezTo>
                <a:cubicBezTo>
                  <a:pt x="252532" y="170319"/>
                  <a:pt x="246400" y="171510"/>
                  <a:pt x="242292" y="175617"/>
                </a:cubicBezTo>
                <a:lnTo>
                  <a:pt x="218480" y="199430"/>
                </a:lnTo>
                <a:lnTo>
                  <a:pt x="171450" y="152400"/>
                </a:lnTo>
                <a:lnTo>
                  <a:pt x="218480" y="105370"/>
                </a:lnTo>
                <a:lnTo>
                  <a:pt x="242292" y="129183"/>
                </a:lnTo>
                <a:cubicBezTo>
                  <a:pt x="246400" y="133290"/>
                  <a:pt x="252532" y="134481"/>
                  <a:pt x="257889" y="132278"/>
                </a:cubicBezTo>
                <a:cubicBezTo>
                  <a:pt x="263247" y="130076"/>
                  <a:pt x="266700" y="124837"/>
                  <a:pt x="266700" y="119062"/>
                </a:cubicBezTo>
                <a:lnTo>
                  <a:pt x="266700" y="33338"/>
                </a:lnTo>
                <a:cubicBezTo>
                  <a:pt x="266700" y="25420"/>
                  <a:pt x="260330" y="19050"/>
                  <a:pt x="252413" y="19050"/>
                </a:cubicBezTo>
                <a:lnTo>
                  <a:pt x="166688" y="19050"/>
                </a:lnTo>
                <a:cubicBezTo>
                  <a:pt x="160913" y="19050"/>
                  <a:pt x="155674" y="22503"/>
                  <a:pt x="153472" y="27861"/>
                </a:cubicBezTo>
                <a:cubicBezTo>
                  <a:pt x="151269" y="33218"/>
                  <a:pt x="152519" y="39350"/>
                  <a:pt x="156567" y="43458"/>
                </a:cubicBezTo>
                <a:lnTo>
                  <a:pt x="180380" y="67270"/>
                </a:lnTo>
                <a:lnTo>
                  <a:pt x="133350" y="114300"/>
                </a:lnTo>
                <a:lnTo>
                  <a:pt x="86320" y="67270"/>
                </a:lnTo>
                <a:lnTo>
                  <a:pt x="110133" y="43458"/>
                </a:lnTo>
                <a:cubicBezTo>
                  <a:pt x="114240" y="39350"/>
                  <a:pt x="115431" y="33218"/>
                  <a:pt x="113228" y="27861"/>
                </a:cubicBezTo>
                <a:cubicBezTo>
                  <a:pt x="111026" y="22503"/>
                  <a:pt x="105787" y="19050"/>
                  <a:pt x="100013" y="19050"/>
                </a:cubicBezTo>
                <a:close/>
              </a:path>
            </a:pathLst>
          </a:custGeom>
          <a:solidFill>
            <a:srgbClr val="C8956C"/>
          </a:solidFill>
          <a:ln/>
        </p:spPr>
      </p:sp>
      <p:sp>
        <p:nvSpPr>
          <p:cNvPr id="13" name="Text 10"/>
          <p:cNvSpPr/>
          <p:nvPr/>
        </p:nvSpPr>
        <p:spPr>
          <a:xfrm>
            <a:off x="8636000" y="33401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充分利用场地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636000" y="3746500"/>
            <a:ext cx="660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C8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不新增占用地面土地，高效利用建筑屋顶（天台）空间建设专业网球场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72450" y="4445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52698" y="0"/>
                </a:moveTo>
                <a:cubicBezTo>
                  <a:pt x="161449" y="0"/>
                  <a:pt x="169485" y="4822"/>
                  <a:pt x="173653" y="12502"/>
                </a:cubicBezTo>
                <a:lnTo>
                  <a:pt x="302240" y="250627"/>
                </a:lnTo>
                <a:cubicBezTo>
                  <a:pt x="306229" y="258008"/>
                  <a:pt x="306050" y="266938"/>
                  <a:pt x="301764" y="274141"/>
                </a:cubicBezTo>
                <a:cubicBezTo>
                  <a:pt x="297478" y="281345"/>
                  <a:pt x="289679" y="285750"/>
                  <a:pt x="281345" y="285750"/>
                </a:cubicBezTo>
                <a:lnTo>
                  <a:pt x="24170" y="285750"/>
                </a:lnTo>
                <a:cubicBezTo>
                  <a:pt x="15776" y="285750"/>
                  <a:pt x="8037" y="281345"/>
                  <a:pt x="3750" y="274141"/>
                </a:cubicBezTo>
                <a:cubicBezTo>
                  <a:pt x="-536" y="266938"/>
                  <a:pt x="-714" y="258008"/>
                  <a:pt x="3274" y="250627"/>
                </a:cubicBezTo>
                <a:lnTo>
                  <a:pt x="131862" y="12502"/>
                </a:lnTo>
                <a:lnTo>
                  <a:pt x="133588" y="9763"/>
                </a:lnTo>
                <a:cubicBezTo>
                  <a:pt x="137934" y="3691"/>
                  <a:pt x="145018" y="0"/>
                  <a:pt x="152698" y="0"/>
                </a:cubicBezTo>
                <a:close/>
                <a:moveTo>
                  <a:pt x="101441" y="148769"/>
                </a:moveTo>
                <a:lnTo>
                  <a:pt x="117396" y="164723"/>
                </a:lnTo>
                <a:cubicBezTo>
                  <a:pt x="121087" y="168414"/>
                  <a:pt x="127159" y="168414"/>
                  <a:pt x="130850" y="164723"/>
                </a:cubicBezTo>
                <a:lnTo>
                  <a:pt x="156627" y="138946"/>
                </a:lnTo>
                <a:cubicBezTo>
                  <a:pt x="160199" y="135374"/>
                  <a:pt x="165021" y="133350"/>
                  <a:pt x="170081" y="133350"/>
                </a:cubicBezTo>
                <a:lnTo>
                  <a:pt x="195560" y="133350"/>
                </a:lnTo>
                <a:lnTo>
                  <a:pt x="152638" y="53876"/>
                </a:lnTo>
                <a:lnTo>
                  <a:pt x="101382" y="148769"/>
                </a:lnTo>
                <a:close/>
                <a:moveTo>
                  <a:pt x="295573" y="95250"/>
                </a:moveTo>
                <a:cubicBezTo>
                  <a:pt x="269288" y="95250"/>
                  <a:pt x="247948" y="73910"/>
                  <a:pt x="247948" y="47625"/>
                </a:cubicBezTo>
                <a:cubicBezTo>
                  <a:pt x="247948" y="21340"/>
                  <a:pt x="269288" y="0"/>
                  <a:pt x="295573" y="0"/>
                </a:cubicBezTo>
                <a:cubicBezTo>
                  <a:pt x="321858" y="0"/>
                  <a:pt x="343198" y="21340"/>
                  <a:pt x="343198" y="47625"/>
                </a:cubicBezTo>
                <a:cubicBezTo>
                  <a:pt x="343198" y="73910"/>
                  <a:pt x="321858" y="95250"/>
                  <a:pt x="295573" y="95250"/>
                </a:cubicBezTo>
                <a:close/>
              </a:path>
            </a:pathLst>
          </a:custGeom>
          <a:solidFill>
            <a:srgbClr val="C8956C"/>
          </a:solidFill>
          <a:ln/>
        </p:spPr>
      </p:sp>
      <p:sp>
        <p:nvSpPr>
          <p:cNvPr id="16" name="Text 13"/>
          <p:cNvSpPr/>
          <p:nvPr/>
        </p:nvSpPr>
        <p:spPr>
          <a:xfrm>
            <a:off x="8636000" y="44196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风景优美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636000" y="4826000"/>
            <a:ext cx="660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C8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屋顶网球场可欣赏白云山及城市景观，打造独特的运动体验环境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72450" y="5524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8575" y="209550"/>
                </a:moveTo>
                <a:lnTo>
                  <a:pt x="57150" y="209550"/>
                </a:lnTo>
                <a:lnTo>
                  <a:pt x="136981" y="280511"/>
                </a:lnTo>
                <a:cubicBezTo>
                  <a:pt x="140791" y="283905"/>
                  <a:pt x="145673" y="285750"/>
                  <a:pt x="150733" y="285750"/>
                </a:cubicBezTo>
                <a:cubicBezTo>
                  <a:pt x="162163" y="285750"/>
                  <a:pt x="171450" y="276463"/>
                  <a:pt x="171450" y="265033"/>
                </a:cubicBezTo>
                <a:lnTo>
                  <a:pt x="171450" y="39767"/>
                </a:lnTo>
                <a:cubicBezTo>
                  <a:pt x="171450" y="28337"/>
                  <a:pt x="162163" y="19050"/>
                  <a:pt x="150733" y="19050"/>
                </a:cubicBezTo>
                <a:cubicBezTo>
                  <a:pt x="145673" y="19050"/>
                  <a:pt x="140791" y="20895"/>
                  <a:pt x="136981" y="24289"/>
                </a:cubicBezTo>
                <a:lnTo>
                  <a:pt x="57150" y="95250"/>
                </a:lnTo>
                <a:lnTo>
                  <a:pt x="28575" y="95250"/>
                </a:lnTo>
                <a:cubicBezTo>
                  <a:pt x="12799" y="95250"/>
                  <a:pt x="0" y="108049"/>
                  <a:pt x="0" y="123825"/>
                </a:cubicBezTo>
                <a:lnTo>
                  <a:pt x="0" y="180975"/>
                </a:lnTo>
                <a:cubicBezTo>
                  <a:pt x="0" y="196751"/>
                  <a:pt x="12799" y="209550"/>
                  <a:pt x="28575" y="209550"/>
                </a:cubicBezTo>
                <a:close/>
                <a:moveTo>
                  <a:pt x="218480" y="104180"/>
                </a:moveTo>
                <a:cubicBezTo>
                  <a:pt x="212884" y="109776"/>
                  <a:pt x="212884" y="118824"/>
                  <a:pt x="218480" y="124361"/>
                </a:cubicBezTo>
                <a:lnTo>
                  <a:pt x="246459" y="152340"/>
                </a:lnTo>
                <a:lnTo>
                  <a:pt x="218480" y="180320"/>
                </a:lnTo>
                <a:cubicBezTo>
                  <a:pt x="212884" y="185916"/>
                  <a:pt x="212884" y="194965"/>
                  <a:pt x="218480" y="200501"/>
                </a:cubicBezTo>
                <a:cubicBezTo>
                  <a:pt x="224076" y="206038"/>
                  <a:pt x="233124" y="206097"/>
                  <a:pt x="238661" y="200501"/>
                </a:cubicBezTo>
                <a:lnTo>
                  <a:pt x="266640" y="172522"/>
                </a:lnTo>
                <a:lnTo>
                  <a:pt x="294620" y="200501"/>
                </a:lnTo>
                <a:cubicBezTo>
                  <a:pt x="300216" y="206097"/>
                  <a:pt x="309265" y="206097"/>
                  <a:pt x="314801" y="200501"/>
                </a:cubicBezTo>
                <a:cubicBezTo>
                  <a:pt x="320338" y="194905"/>
                  <a:pt x="320397" y="185857"/>
                  <a:pt x="314801" y="180320"/>
                </a:cubicBezTo>
                <a:lnTo>
                  <a:pt x="286822" y="152340"/>
                </a:lnTo>
                <a:lnTo>
                  <a:pt x="314801" y="124361"/>
                </a:lnTo>
                <a:cubicBezTo>
                  <a:pt x="320397" y="118765"/>
                  <a:pt x="320397" y="109716"/>
                  <a:pt x="314801" y="104180"/>
                </a:cubicBezTo>
                <a:cubicBezTo>
                  <a:pt x="309205" y="98643"/>
                  <a:pt x="300157" y="98584"/>
                  <a:pt x="294620" y="104180"/>
                </a:cubicBezTo>
                <a:lnTo>
                  <a:pt x="266640" y="132159"/>
                </a:lnTo>
                <a:lnTo>
                  <a:pt x="238661" y="104180"/>
                </a:lnTo>
                <a:cubicBezTo>
                  <a:pt x="233065" y="98584"/>
                  <a:pt x="224016" y="98584"/>
                  <a:pt x="218480" y="104180"/>
                </a:cubicBezTo>
                <a:close/>
              </a:path>
            </a:pathLst>
          </a:custGeom>
          <a:solidFill>
            <a:srgbClr val="C8956C"/>
          </a:solidFill>
          <a:ln/>
        </p:spPr>
      </p:sp>
      <p:sp>
        <p:nvSpPr>
          <p:cNvPr id="19" name="Text 16"/>
          <p:cNvSpPr/>
          <p:nvPr/>
        </p:nvSpPr>
        <p:spPr>
          <a:xfrm>
            <a:off x="8636000" y="54991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隔音良好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636000" y="5905500"/>
            <a:ext cx="660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C8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位于建筑物顶部，有效隔离外界噪音，减少对周边居民的干扰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2000" y="6604000"/>
            <a:ext cx="14732000" cy="6350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22" name="Text 19"/>
          <p:cNvSpPr/>
          <p:nvPr/>
        </p:nvSpPr>
        <p:spPr>
          <a:xfrm>
            <a:off x="762000" y="6604000"/>
            <a:ext cx="147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与3号院同步改造、一同运营，形成"水陆空"全维度运动业态闭环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62000" y="7493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8C8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本项目利用11#、14#、15#栋屋顶，打造6片标准网球场，为广州补充城市运动场地缺口，响应全民健身国家战略，打造低效用地盘活的创新样本。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C8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oss.gooood.cn/05de54a0522e05fb841c0781a7a938a10444a71a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14981" b="149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6000" y="2286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FFFFFF">
                    <a:alpha val="1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016000" y="3937000"/>
            <a:ext cx="1016000" cy="0"/>
          </a:xfrm>
          <a:prstGeom prst="straightConnector1">
            <a:avLst/>
          </a:prstGeom>
          <a:noFill/>
          <a:ln w="38100">
            <a:solidFill>
              <a:srgbClr val="C8956C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016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改造申请要点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16000" y="5207000"/>
            <a:ext cx="1397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在不增加建筑面积的前提下，申请建筑边界、高度与外立面调整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4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申请一：重新规整建筑边界，满足泳池与酒店布置需求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62000" y="1117600"/>
            <a:ext cx="1524000" cy="406400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117600"/>
            <a:ext cx="152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申请内容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40000" y="1117600"/>
            <a:ext cx="1295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在不增加建筑面积的前提下，重新规整建筑边界线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1841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改造必要性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2349500"/>
            <a:ext cx="1473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895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现有建筑布局零散不规则，无法满足50米国标恒温泳池的标准尺寸布置（50m×25m）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895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潜水主题酒店（20间客房）需要合理的平面进深与采光面，现有建筑进深不足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895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极限运动设施与配套商业需要连贯的功能分区与动线组织，现有分散布局无法支撑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127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调整原则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2000" y="4699000"/>
            <a:ext cx="4572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6000" y="4826000"/>
            <a:ext cx="825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895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05000" y="4826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占地面积不增加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5334000"/>
            <a:ext cx="406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总建筑占地面积不增加，维持现有建筑占地范围，仅对边界线进行规整优化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88000" y="4699000"/>
            <a:ext cx="4572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42000" y="4826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895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04000" y="48260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功能布局合理化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42000" y="5334000"/>
            <a:ext cx="406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规整后的边界线更加符合功能业态的合理布局需求，提升空间使用效率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414000" y="4699000"/>
            <a:ext cx="5080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68000" y="4826000"/>
            <a:ext cx="825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895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557000" y="4826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安全与效率提升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68000" y="5334000"/>
            <a:ext cx="457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优化建筑间距与消防通道，提升整体安全性与使用效率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858000"/>
            <a:ext cx="14732000" cy="10160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" y="717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C8956C"/>
          </a:solidFill>
          <a:ln/>
        </p:spPr>
      </p:sp>
      <p:sp>
        <p:nvSpPr>
          <p:cNvPr id="25" name="Text 23"/>
          <p:cNvSpPr/>
          <p:nvPr/>
        </p:nvSpPr>
        <p:spPr>
          <a:xfrm>
            <a:off x="1651000" y="6985000"/>
            <a:ext cx="134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核心承诺：建筑边界规整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C895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不增加建筑面积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，不改变用地性质，不突破用地红线，仅优化现有占地范围内的边界线布局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C8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申请二：屋顶高度调整至不超15米，外立面整体改造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1176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屋顶高度调整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1625600"/>
            <a:ext cx="6985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6000" y="177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dirty="0">
                <a:solidFill>
                  <a:srgbClr val="C895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≤15m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556000" y="2006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C8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总高度上限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667000"/>
            <a:ext cx="673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895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现有建筑高度参差不齐，部分违建加建导致结构负荷超标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895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统一限高15米既满足功能需求（泳池净空、酒店层高）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895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00000">
                    <a:alpha val="9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var(--S1S-FONT-FAMILY)" pitchFamily="34" charset="0"/>
                <a:ea typeface="var(--S1S-FONT-FAMILY)" pitchFamily="34" charset="-122"/>
                <a:cs typeface="var(--S1S-FONT-FAMILY)" pitchFamily="34" charset="-120"/>
              </a:rPr>
              <a:t>《广州市白云山风景名胜区保护条例》及城市更新规划，具体管控范围如下：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00000">
                    <a:alpha val="9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var(--S1S-FONT-FAMILY)" pitchFamily="34" charset="0"/>
                <a:ea typeface="var(--S1S-FONT-FAMILY)" pitchFamily="34" charset="-122"/>
                <a:cs typeface="var(--S1S-FONT-FAMILY)" pitchFamily="34" charset="-120"/>
              </a:rPr>
              <a:t>外围保护地带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00000">
                    <a:alpha val="9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var(--S1S-FONT-FAMILY)" pitchFamily="34" charset="0"/>
                <a:ea typeface="var(--S1S-FONT-FAMILY)" pitchFamily="34" charset="-122"/>
                <a:cs typeface="var(--S1S-FONT-FAMILY)" pitchFamily="34" charset="-120"/>
              </a:rPr>
              <a:t>：在白云山风景名胜区的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00000">
                    <a:alpha val="9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var(--S1S-FONT-FAMILY)" pitchFamily="34" charset="0"/>
                <a:ea typeface="var(--S1S-FONT-FAMILY)" pitchFamily="34" charset="-122"/>
                <a:cs typeface="var(--S1S-FONT-FAMILY)" pitchFamily="34" charset="-120"/>
              </a:rPr>
              <a:t>外围保护地带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00000">
                    <a:alpha val="9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var(--S1S-FONT-FAMILY)" pitchFamily="34" charset="0"/>
                <a:ea typeface="var(--S1S-FONT-FAMILY)" pitchFamily="34" charset="-122"/>
                <a:cs typeface="var(--S1S-FONT-FAMILY)" pitchFamily="34" charset="-120"/>
              </a:rPr>
              <a:t>内，新建的建（构）筑物高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00000">
                    <a:alpha val="9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var(--S1S-FONT-FAMILY)" pitchFamily="34" charset="0"/>
                <a:ea typeface="var(--S1S-FONT-FAMILY)" pitchFamily="34" charset="-122"/>
                <a:cs typeface="var(--S1S-FONT-FAMILY)" pitchFamily="34" charset="-120"/>
              </a:rPr>
              <a:t>                               度应当控制在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00000">
                    <a:alpha val="9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var(--S1S-FONT-FAMILY)" pitchFamily="34" charset="0"/>
                <a:ea typeface="var(--S1S-FONT-FAMILY)" pitchFamily="34" charset="-122"/>
                <a:cs typeface="var(--S1S-FONT-FAMILY)" pitchFamily="34" charset="-120"/>
              </a:rPr>
              <a:t>15米以内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00000">
                    <a:alpha val="9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var(--S1S-FONT-FAMILY)" pitchFamily="34" charset="0"/>
                <a:ea typeface="var(--S1S-FONT-FAMILY)" pitchFamily="34" charset="-122"/>
                <a:cs typeface="var(--S1S-FONT-FAMILY)" pitchFamily="34" charset="-120"/>
              </a:rPr>
              <a:t>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55000" y="11176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外立面改造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55000" y="1625600"/>
            <a:ext cx="723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9000" y="1778000"/>
            <a:ext cx="6731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配色方案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：工业灰 + 深海蓝 + 山麓橙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设计语言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：全景落地玻璃 + 半山退台设计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景观视野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：最大化拓展山景观景面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特色空间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："山境潜望台"高空打卡制高点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改造理念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：保留工业遗存肌理，对标广州1906科技园微改造</a:t>
            </a:r>
            <a:endParaRPr lang="en-US" sz="1600" dirty="0"/>
          </a:p>
        </p:txBody>
      </p:sp>
      <p:pic>
        <p:nvPicPr>
          <p:cNvPr id="13" name="Image 0" descr="https://kimi-web-img.moonshot.cn/img/oss.gooood.cn/05de54a0522e05fb841c0781a7a938a10444a71a.jpg">    </p:cNvPr>
          <p:cNvPicPr>
            <a:picLocks noChangeAspect="1"/>
          </p:cNvPicPr>
          <p:nvPr/>
        </p:nvPicPr>
        <p:blipFill>
          <a:blip r:embed="rId1"/>
          <a:srcRect l="0" r="0" t="20000" b="20000"/>
          <a:stretch/>
        </p:blipFill>
        <p:spPr>
          <a:xfrm>
            <a:off x="762000" y="4953000"/>
            <a:ext cx="14732000" cy="2540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62000" y="7569200"/>
            <a:ext cx="147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C8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建筑改造示意 · 保留工业肌理与现代设计语言融合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2000" y="8001000"/>
            <a:ext cx="14732000" cy="508000"/>
          </a:xfrm>
          <a:prstGeom prst="rect">
            <a:avLst/>
          </a:prstGeom>
          <a:solidFill>
            <a:srgbClr val="1B4D3E">
              <a:alpha val="8235"/>
            </a:srgbClr>
          </a:solidFill>
          <a:ln w="12700">
            <a:solidFill>
              <a:srgbClr val="1B4D3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79500" y="8102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cubicBezTo>
                  <a:pt x="142210" y="0"/>
                  <a:pt x="144720" y="546"/>
                  <a:pt x="147012" y="1583"/>
                </a:cubicBezTo>
                <a:lnTo>
                  <a:pt x="249823" y="45184"/>
                </a:lnTo>
                <a:cubicBezTo>
                  <a:pt x="261828" y="50259"/>
                  <a:pt x="270778" y="62101"/>
                  <a:pt x="270723" y="76398"/>
                </a:cubicBezTo>
                <a:cubicBezTo>
                  <a:pt x="270450" y="130532"/>
                  <a:pt x="248186" y="229577"/>
                  <a:pt x="154161" y="274598"/>
                </a:cubicBezTo>
                <a:cubicBezTo>
                  <a:pt x="145048" y="278963"/>
                  <a:pt x="134461" y="278963"/>
                  <a:pt x="125348" y="274598"/>
                </a:cubicBezTo>
                <a:cubicBezTo>
                  <a:pt x="31269" y="229577"/>
                  <a:pt x="9059" y="130532"/>
                  <a:pt x="8786" y="76398"/>
                </a:cubicBezTo>
                <a:cubicBezTo>
                  <a:pt x="8731" y="62101"/>
                  <a:pt x="17681" y="50259"/>
                  <a:pt x="29686" y="45184"/>
                </a:cubicBezTo>
                <a:lnTo>
                  <a:pt x="132442" y="1583"/>
                </a:lnTo>
                <a:cubicBezTo>
                  <a:pt x="134734" y="546"/>
                  <a:pt x="137190" y="0"/>
                  <a:pt x="139700" y="0"/>
                </a:cubicBezTo>
                <a:close/>
                <a:moveTo>
                  <a:pt x="139700" y="36453"/>
                </a:moveTo>
                <a:lnTo>
                  <a:pt x="139700" y="242783"/>
                </a:lnTo>
                <a:cubicBezTo>
                  <a:pt x="215007" y="206330"/>
                  <a:pt x="235253" y="125566"/>
                  <a:pt x="235744" y="77217"/>
                </a:cubicBezTo>
                <a:lnTo>
                  <a:pt x="139700" y="36508"/>
                </a:lnTo>
                <a:lnTo>
                  <a:pt x="139700" y="36508"/>
                </a:lnTo>
                <a:close/>
              </a:path>
            </a:pathLst>
          </a:custGeom>
          <a:solidFill>
            <a:srgbClr val="1B4D3E"/>
          </a:solidFill>
          <a:ln/>
        </p:spPr>
      </p:sp>
      <p:sp>
        <p:nvSpPr>
          <p:cNvPr id="17" name="Text 14"/>
          <p:cNvSpPr/>
          <p:nvPr/>
        </p:nvSpPr>
        <p:spPr>
          <a:xfrm>
            <a:off x="1524000" y="8001000"/>
            <a:ext cx="1358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承诺：不增加建筑面积 · 不突破用地红线 · 不改变用地性质 · 依法依规推进改造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C8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c85bb4a1f03f70e6d31d1cc6ec7e53cf36face25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7813" b="7812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6000" y="2286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FFFFFF">
                    <a:alpha val="1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016000" y="3937000"/>
            <a:ext cx="1016000" cy="0"/>
          </a:xfrm>
          <a:prstGeom prst="straightConnector1">
            <a:avLst/>
          </a:prstGeom>
          <a:noFill/>
          <a:ln w="38100">
            <a:solidFill>
              <a:srgbClr val="C8956C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016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运营与综合价值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16000" y="5207000"/>
            <a:ext cx="1397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2号院与3号院同步改造、一同运营，打造城市更新标杆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4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同步运营：水陆空全维度运动度假目的地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62000" y="1143000"/>
            <a:ext cx="4699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000" y="1371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6994" y="100806"/>
                </a:moveTo>
                <a:lnTo>
                  <a:pt x="130493" y="47308"/>
                </a:lnTo>
                <a:cubicBezTo>
                  <a:pt x="160814" y="16986"/>
                  <a:pt x="201930" y="0"/>
                  <a:pt x="244793" y="0"/>
                </a:cubicBezTo>
                <a:cubicBezTo>
                  <a:pt x="334089" y="0"/>
                  <a:pt x="406479" y="72390"/>
                  <a:pt x="406479" y="161607"/>
                </a:cubicBezTo>
                <a:cubicBezTo>
                  <a:pt x="406479" y="198438"/>
                  <a:pt x="393938" y="233918"/>
                  <a:pt x="371157" y="262414"/>
                </a:cubicBezTo>
                <a:cubicBezTo>
                  <a:pt x="352425" y="249079"/>
                  <a:pt x="329565" y="241221"/>
                  <a:pt x="304879" y="241221"/>
                </a:cubicBezTo>
                <a:cubicBezTo>
                  <a:pt x="280194" y="241221"/>
                  <a:pt x="257334" y="249079"/>
                  <a:pt x="238681" y="262334"/>
                </a:cubicBezTo>
                <a:lnTo>
                  <a:pt x="76994" y="100806"/>
                </a:lnTo>
                <a:close/>
                <a:moveTo>
                  <a:pt x="190500" y="355600"/>
                </a:moveTo>
                <a:cubicBezTo>
                  <a:pt x="190500" y="363299"/>
                  <a:pt x="191294" y="370761"/>
                  <a:pt x="192723" y="377984"/>
                </a:cubicBezTo>
                <a:cubicBezTo>
                  <a:pt x="177006" y="373856"/>
                  <a:pt x="162560" y="365681"/>
                  <a:pt x="150892" y="354013"/>
                </a:cubicBezTo>
                <a:cubicBezTo>
                  <a:pt x="141208" y="344329"/>
                  <a:pt x="125571" y="344329"/>
                  <a:pt x="115888" y="354013"/>
                </a:cubicBezTo>
                <a:lnTo>
                  <a:pt x="76676" y="393224"/>
                </a:lnTo>
                <a:cubicBezTo>
                  <a:pt x="68263" y="401638"/>
                  <a:pt x="56832" y="406400"/>
                  <a:pt x="44926" y="406400"/>
                </a:cubicBezTo>
                <a:cubicBezTo>
                  <a:pt x="20161" y="406400"/>
                  <a:pt x="0" y="386318"/>
                  <a:pt x="0" y="361474"/>
                </a:cubicBezTo>
                <a:cubicBezTo>
                  <a:pt x="0" y="349568"/>
                  <a:pt x="4762" y="338138"/>
                  <a:pt x="13176" y="329724"/>
                </a:cubicBezTo>
                <a:lnTo>
                  <a:pt x="52388" y="290513"/>
                </a:lnTo>
                <a:cubicBezTo>
                  <a:pt x="62071" y="280829"/>
                  <a:pt x="62071" y="265192"/>
                  <a:pt x="52388" y="255508"/>
                </a:cubicBezTo>
                <a:cubicBezTo>
                  <a:pt x="35163" y="238284"/>
                  <a:pt x="25479" y="214868"/>
                  <a:pt x="25479" y="190500"/>
                </a:cubicBezTo>
                <a:cubicBezTo>
                  <a:pt x="25479" y="167164"/>
                  <a:pt x="34290" y="144780"/>
                  <a:pt x="50165" y="127794"/>
                </a:cubicBezTo>
                <a:lnTo>
                  <a:pt x="211614" y="289401"/>
                </a:lnTo>
                <a:cubicBezTo>
                  <a:pt x="198358" y="308054"/>
                  <a:pt x="190500" y="330914"/>
                  <a:pt x="190500" y="355600"/>
                </a:cubicBezTo>
                <a:close/>
                <a:moveTo>
                  <a:pt x="304800" y="279400"/>
                </a:moveTo>
                <a:cubicBezTo>
                  <a:pt x="346856" y="279400"/>
                  <a:pt x="381000" y="313544"/>
                  <a:pt x="381000" y="355600"/>
                </a:cubicBezTo>
                <a:cubicBezTo>
                  <a:pt x="381000" y="397656"/>
                  <a:pt x="346856" y="431800"/>
                  <a:pt x="304800" y="431800"/>
                </a:cubicBezTo>
                <a:cubicBezTo>
                  <a:pt x="262744" y="431800"/>
                  <a:pt x="228600" y="397656"/>
                  <a:pt x="228600" y="355600"/>
                </a:cubicBezTo>
                <a:cubicBezTo>
                  <a:pt x="228600" y="313544"/>
                  <a:pt x="262744" y="279400"/>
                  <a:pt x="304800" y="279400"/>
                </a:cubicBezTo>
                <a:close/>
              </a:path>
            </a:pathLst>
          </a:custGeom>
          <a:solidFill>
            <a:srgbClr val="C8956C"/>
          </a:solidFill>
          <a:ln/>
        </p:spPr>
      </p:sp>
      <p:sp>
        <p:nvSpPr>
          <p:cNvPr id="7" name="Text 5"/>
          <p:cNvSpPr/>
          <p:nvPr/>
        </p:nvSpPr>
        <p:spPr>
          <a:xfrm>
            <a:off x="1587500" y="13716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2号院 · 屋顶网球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000" y="1930400"/>
            <a:ext cx="4191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1016000" y="2095500"/>
            <a:ext cx="419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6片标准网球场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引流城市网球爱好者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打造高端运动社交平台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山顶视野，独特体验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C895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网球社群引流入口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1143000"/>
            <a:ext cx="4699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69000" y="1371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25914" y="98504"/>
                </a:moveTo>
                <a:cubicBezTo>
                  <a:pt x="342344" y="110887"/>
                  <a:pt x="362426" y="122873"/>
                  <a:pt x="384810" y="125889"/>
                </a:cubicBezTo>
                <a:cubicBezTo>
                  <a:pt x="395208" y="127318"/>
                  <a:pt x="404813" y="119936"/>
                  <a:pt x="406241" y="109538"/>
                </a:cubicBezTo>
                <a:cubicBezTo>
                  <a:pt x="407670" y="99139"/>
                  <a:pt x="400288" y="89535"/>
                  <a:pt x="389890" y="88106"/>
                </a:cubicBezTo>
                <a:cubicBezTo>
                  <a:pt x="377269" y="86439"/>
                  <a:pt x="363538" y="79137"/>
                  <a:pt x="348853" y="68104"/>
                </a:cubicBezTo>
                <a:cubicBezTo>
                  <a:pt x="318373" y="45085"/>
                  <a:pt x="277019" y="45085"/>
                  <a:pt x="246459" y="68104"/>
                </a:cubicBezTo>
                <a:cubicBezTo>
                  <a:pt x="227409" y="82471"/>
                  <a:pt x="214154" y="88979"/>
                  <a:pt x="203200" y="88979"/>
                </a:cubicBezTo>
                <a:cubicBezTo>
                  <a:pt x="192246" y="88979"/>
                  <a:pt x="178991" y="82471"/>
                  <a:pt x="159941" y="68104"/>
                </a:cubicBezTo>
                <a:cubicBezTo>
                  <a:pt x="129461" y="45085"/>
                  <a:pt x="88106" y="45085"/>
                  <a:pt x="57547" y="68104"/>
                </a:cubicBezTo>
                <a:cubicBezTo>
                  <a:pt x="42863" y="79137"/>
                  <a:pt x="29131" y="86439"/>
                  <a:pt x="16510" y="88106"/>
                </a:cubicBezTo>
                <a:cubicBezTo>
                  <a:pt x="6112" y="89535"/>
                  <a:pt x="-1270" y="99060"/>
                  <a:pt x="159" y="109538"/>
                </a:cubicBezTo>
                <a:cubicBezTo>
                  <a:pt x="1587" y="120015"/>
                  <a:pt x="11112" y="127318"/>
                  <a:pt x="21590" y="125889"/>
                </a:cubicBezTo>
                <a:cubicBezTo>
                  <a:pt x="43974" y="122873"/>
                  <a:pt x="64135" y="110887"/>
                  <a:pt x="80486" y="98504"/>
                </a:cubicBezTo>
                <a:cubicBezTo>
                  <a:pt x="97393" y="85725"/>
                  <a:pt x="120094" y="85725"/>
                  <a:pt x="137001" y="98504"/>
                </a:cubicBezTo>
                <a:cubicBezTo>
                  <a:pt x="156210" y="113030"/>
                  <a:pt x="178514" y="127000"/>
                  <a:pt x="203200" y="127000"/>
                </a:cubicBezTo>
                <a:cubicBezTo>
                  <a:pt x="227886" y="127000"/>
                  <a:pt x="250111" y="112951"/>
                  <a:pt x="269399" y="98504"/>
                </a:cubicBezTo>
                <a:cubicBezTo>
                  <a:pt x="286306" y="85725"/>
                  <a:pt x="309007" y="85725"/>
                  <a:pt x="325914" y="98504"/>
                </a:cubicBezTo>
                <a:close/>
                <a:moveTo>
                  <a:pt x="325914" y="212804"/>
                </a:moveTo>
                <a:cubicBezTo>
                  <a:pt x="342344" y="225187"/>
                  <a:pt x="362426" y="237173"/>
                  <a:pt x="384810" y="240189"/>
                </a:cubicBezTo>
                <a:cubicBezTo>
                  <a:pt x="395208" y="241618"/>
                  <a:pt x="404813" y="234236"/>
                  <a:pt x="406241" y="223838"/>
                </a:cubicBezTo>
                <a:cubicBezTo>
                  <a:pt x="407670" y="213439"/>
                  <a:pt x="400288" y="203835"/>
                  <a:pt x="389890" y="202406"/>
                </a:cubicBezTo>
                <a:cubicBezTo>
                  <a:pt x="377269" y="200739"/>
                  <a:pt x="363538" y="193437"/>
                  <a:pt x="348853" y="182404"/>
                </a:cubicBezTo>
                <a:cubicBezTo>
                  <a:pt x="318373" y="159385"/>
                  <a:pt x="277019" y="159385"/>
                  <a:pt x="246459" y="182404"/>
                </a:cubicBezTo>
                <a:cubicBezTo>
                  <a:pt x="227409" y="196771"/>
                  <a:pt x="214154" y="203279"/>
                  <a:pt x="203200" y="203279"/>
                </a:cubicBezTo>
                <a:cubicBezTo>
                  <a:pt x="192246" y="203279"/>
                  <a:pt x="178991" y="196771"/>
                  <a:pt x="159941" y="182404"/>
                </a:cubicBezTo>
                <a:cubicBezTo>
                  <a:pt x="129461" y="159385"/>
                  <a:pt x="88106" y="159385"/>
                  <a:pt x="57547" y="182404"/>
                </a:cubicBezTo>
                <a:cubicBezTo>
                  <a:pt x="42863" y="193437"/>
                  <a:pt x="29131" y="200739"/>
                  <a:pt x="16510" y="202406"/>
                </a:cubicBezTo>
                <a:cubicBezTo>
                  <a:pt x="6112" y="203756"/>
                  <a:pt x="-1270" y="213360"/>
                  <a:pt x="159" y="223838"/>
                </a:cubicBezTo>
                <a:cubicBezTo>
                  <a:pt x="1587" y="234315"/>
                  <a:pt x="11112" y="241618"/>
                  <a:pt x="21590" y="240189"/>
                </a:cubicBezTo>
                <a:cubicBezTo>
                  <a:pt x="43974" y="237173"/>
                  <a:pt x="64135" y="225187"/>
                  <a:pt x="80486" y="212804"/>
                </a:cubicBezTo>
                <a:cubicBezTo>
                  <a:pt x="97393" y="200025"/>
                  <a:pt x="120094" y="200025"/>
                  <a:pt x="137001" y="212804"/>
                </a:cubicBezTo>
                <a:cubicBezTo>
                  <a:pt x="156210" y="227330"/>
                  <a:pt x="178514" y="241300"/>
                  <a:pt x="203200" y="241300"/>
                </a:cubicBezTo>
                <a:cubicBezTo>
                  <a:pt x="227886" y="241300"/>
                  <a:pt x="250111" y="227251"/>
                  <a:pt x="269399" y="212804"/>
                </a:cubicBezTo>
                <a:cubicBezTo>
                  <a:pt x="286306" y="200025"/>
                  <a:pt x="309007" y="200025"/>
                  <a:pt x="325914" y="212804"/>
                </a:cubicBezTo>
                <a:close/>
                <a:moveTo>
                  <a:pt x="269399" y="327104"/>
                </a:moveTo>
                <a:cubicBezTo>
                  <a:pt x="286306" y="314325"/>
                  <a:pt x="309007" y="314325"/>
                  <a:pt x="325914" y="327104"/>
                </a:cubicBezTo>
                <a:cubicBezTo>
                  <a:pt x="342344" y="339487"/>
                  <a:pt x="362426" y="351473"/>
                  <a:pt x="384810" y="354489"/>
                </a:cubicBezTo>
                <a:cubicBezTo>
                  <a:pt x="395208" y="355918"/>
                  <a:pt x="404813" y="348536"/>
                  <a:pt x="406241" y="338138"/>
                </a:cubicBezTo>
                <a:cubicBezTo>
                  <a:pt x="407670" y="327739"/>
                  <a:pt x="400288" y="318135"/>
                  <a:pt x="389890" y="316706"/>
                </a:cubicBezTo>
                <a:cubicBezTo>
                  <a:pt x="377269" y="315039"/>
                  <a:pt x="363538" y="307737"/>
                  <a:pt x="348853" y="296704"/>
                </a:cubicBezTo>
                <a:cubicBezTo>
                  <a:pt x="318373" y="273685"/>
                  <a:pt x="277019" y="273685"/>
                  <a:pt x="246459" y="296704"/>
                </a:cubicBezTo>
                <a:cubicBezTo>
                  <a:pt x="227409" y="311071"/>
                  <a:pt x="214154" y="317579"/>
                  <a:pt x="203200" y="317579"/>
                </a:cubicBezTo>
                <a:cubicBezTo>
                  <a:pt x="192246" y="317579"/>
                  <a:pt x="178991" y="311071"/>
                  <a:pt x="159941" y="296704"/>
                </a:cubicBezTo>
                <a:cubicBezTo>
                  <a:pt x="129461" y="273685"/>
                  <a:pt x="88106" y="273685"/>
                  <a:pt x="57547" y="296704"/>
                </a:cubicBezTo>
                <a:cubicBezTo>
                  <a:pt x="42863" y="307737"/>
                  <a:pt x="29131" y="315039"/>
                  <a:pt x="16510" y="316706"/>
                </a:cubicBezTo>
                <a:cubicBezTo>
                  <a:pt x="6112" y="318135"/>
                  <a:pt x="-1270" y="327660"/>
                  <a:pt x="159" y="338138"/>
                </a:cubicBezTo>
                <a:cubicBezTo>
                  <a:pt x="1587" y="348615"/>
                  <a:pt x="11112" y="355918"/>
                  <a:pt x="21590" y="354489"/>
                </a:cubicBezTo>
                <a:cubicBezTo>
                  <a:pt x="43974" y="351473"/>
                  <a:pt x="64135" y="339487"/>
                  <a:pt x="80486" y="327104"/>
                </a:cubicBezTo>
                <a:cubicBezTo>
                  <a:pt x="97393" y="314325"/>
                  <a:pt x="120094" y="314325"/>
                  <a:pt x="137001" y="327104"/>
                </a:cubicBezTo>
                <a:cubicBezTo>
                  <a:pt x="156210" y="341630"/>
                  <a:pt x="178514" y="355600"/>
                  <a:pt x="203200" y="355600"/>
                </a:cubicBezTo>
                <a:cubicBezTo>
                  <a:pt x="227886" y="355600"/>
                  <a:pt x="250111" y="341551"/>
                  <a:pt x="269399" y="327104"/>
                </a:cubicBezTo>
                <a:close/>
              </a:path>
            </a:pathLst>
          </a:custGeom>
          <a:solidFill>
            <a:srgbClr val="C8956C"/>
          </a:solidFill>
          <a:ln/>
        </p:spPr>
      </p:sp>
      <p:sp>
        <p:nvSpPr>
          <p:cNvPr id="12" name="Text 10"/>
          <p:cNvSpPr/>
          <p:nvPr/>
        </p:nvSpPr>
        <p:spPr>
          <a:xfrm>
            <a:off x="6540500" y="13716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3号院 · 潜水小镇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69000" y="1930400"/>
            <a:ext cx="4191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5969000" y="2095500"/>
            <a:ext cx="419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50米国标恒温泳池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10米深潜池+专业培训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潜水主题酒店20间客房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极限运动体验区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C895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核心留客体验区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668000" y="1143000"/>
            <a:ext cx="4826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896600" y="13716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13439" y="67628"/>
                </a:moveTo>
                <a:lnTo>
                  <a:pt x="120888" y="170498"/>
                </a:lnTo>
                <a:cubicBezTo>
                  <a:pt x="117237" y="174546"/>
                  <a:pt x="117396" y="180816"/>
                  <a:pt x="121285" y="184706"/>
                </a:cubicBezTo>
                <a:cubicBezTo>
                  <a:pt x="145494" y="208915"/>
                  <a:pt x="184785" y="208915"/>
                  <a:pt x="208994" y="184706"/>
                </a:cubicBezTo>
                <a:lnTo>
                  <a:pt x="234236" y="159464"/>
                </a:lnTo>
                <a:cubicBezTo>
                  <a:pt x="237569" y="156131"/>
                  <a:pt x="241776" y="154305"/>
                  <a:pt x="246063" y="153988"/>
                </a:cubicBezTo>
                <a:cubicBezTo>
                  <a:pt x="251460" y="153511"/>
                  <a:pt x="257016" y="155337"/>
                  <a:pt x="261144" y="159464"/>
                </a:cubicBezTo>
                <a:lnTo>
                  <a:pt x="401320" y="298450"/>
                </a:lnTo>
                <a:lnTo>
                  <a:pt x="457200" y="254000"/>
                </a:lnTo>
                <a:lnTo>
                  <a:pt x="457200" y="25400"/>
                </a:lnTo>
                <a:lnTo>
                  <a:pt x="368300" y="76200"/>
                </a:lnTo>
                <a:lnTo>
                  <a:pt x="349409" y="63579"/>
                </a:lnTo>
                <a:cubicBezTo>
                  <a:pt x="336867" y="55245"/>
                  <a:pt x="322183" y="50800"/>
                  <a:pt x="307102" y="50800"/>
                </a:cubicBezTo>
                <a:lnTo>
                  <a:pt x="251222" y="50800"/>
                </a:lnTo>
                <a:cubicBezTo>
                  <a:pt x="250349" y="50800"/>
                  <a:pt x="249396" y="50800"/>
                  <a:pt x="248523" y="50879"/>
                </a:cubicBezTo>
                <a:cubicBezTo>
                  <a:pt x="235109" y="51594"/>
                  <a:pt x="222488" y="57626"/>
                  <a:pt x="213439" y="67627"/>
                </a:cubicBezTo>
                <a:close/>
                <a:moveTo>
                  <a:pt x="92551" y="145018"/>
                </a:moveTo>
                <a:lnTo>
                  <a:pt x="177324" y="50800"/>
                </a:lnTo>
                <a:lnTo>
                  <a:pt x="145891" y="50800"/>
                </a:lnTo>
                <a:cubicBezTo>
                  <a:pt x="125651" y="50800"/>
                  <a:pt x="106283" y="58817"/>
                  <a:pt x="91996" y="73104"/>
                </a:cubicBezTo>
                <a:lnTo>
                  <a:pt x="88900" y="76200"/>
                </a:lnTo>
                <a:lnTo>
                  <a:pt x="0" y="25400"/>
                </a:lnTo>
                <a:lnTo>
                  <a:pt x="0" y="254000"/>
                </a:lnTo>
                <a:lnTo>
                  <a:pt x="124143" y="357426"/>
                </a:lnTo>
                <a:cubicBezTo>
                  <a:pt x="142399" y="372666"/>
                  <a:pt x="165418" y="381000"/>
                  <a:pt x="189151" y="381000"/>
                </a:cubicBezTo>
                <a:lnTo>
                  <a:pt x="201613" y="381000"/>
                </a:lnTo>
                <a:lnTo>
                  <a:pt x="196056" y="375444"/>
                </a:lnTo>
                <a:cubicBezTo>
                  <a:pt x="188595" y="367983"/>
                  <a:pt x="188595" y="355918"/>
                  <a:pt x="196056" y="348536"/>
                </a:cubicBezTo>
                <a:cubicBezTo>
                  <a:pt x="203518" y="341154"/>
                  <a:pt x="215583" y="341074"/>
                  <a:pt x="222964" y="348536"/>
                </a:cubicBezTo>
                <a:lnTo>
                  <a:pt x="255508" y="381079"/>
                </a:lnTo>
                <a:lnTo>
                  <a:pt x="262652" y="381079"/>
                </a:lnTo>
                <a:cubicBezTo>
                  <a:pt x="277813" y="381079"/>
                  <a:pt x="292656" y="377666"/>
                  <a:pt x="306149" y="371316"/>
                </a:cubicBezTo>
                <a:lnTo>
                  <a:pt x="284956" y="350044"/>
                </a:lnTo>
                <a:cubicBezTo>
                  <a:pt x="277495" y="342583"/>
                  <a:pt x="277495" y="330518"/>
                  <a:pt x="284956" y="323136"/>
                </a:cubicBezTo>
                <a:cubicBezTo>
                  <a:pt x="292418" y="315754"/>
                  <a:pt x="304483" y="315674"/>
                  <a:pt x="311864" y="323136"/>
                </a:cubicBezTo>
                <a:lnTo>
                  <a:pt x="337264" y="348536"/>
                </a:lnTo>
                <a:lnTo>
                  <a:pt x="351155" y="334645"/>
                </a:lnTo>
                <a:cubicBezTo>
                  <a:pt x="358219" y="327581"/>
                  <a:pt x="360283" y="317341"/>
                  <a:pt x="357188" y="308372"/>
                </a:cubicBezTo>
                <a:lnTo>
                  <a:pt x="247729" y="199787"/>
                </a:lnTo>
                <a:lnTo>
                  <a:pt x="235903" y="211614"/>
                </a:lnTo>
                <a:cubicBezTo>
                  <a:pt x="196771" y="250746"/>
                  <a:pt x="133429" y="250746"/>
                  <a:pt x="94298" y="211614"/>
                </a:cubicBezTo>
                <a:cubicBezTo>
                  <a:pt x="76041" y="193357"/>
                  <a:pt x="75327" y="164068"/>
                  <a:pt x="92551" y="144939"/>
                </a:cubicBezTo>
                <a:close/>
              </a:path>
            </a:pathLst>
          </a:custGeom>
          <a:solidFill>
            <a:srgbClr val="C8956C"/>
          </a:solidFill>
          <a:ln/>
        </p:spPr>
      </p:sp>
      <p:sp>
        <p:nvSpPr>
          <p:cNvPr id="17" name="Text 15"/>
          <p:cNvSpPr/>
          <p:nvPr/>
        </p:nvSpPr>
        <p:spPr>
          <a:xfrm>
            <a:off x="11493500" y="13716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双院区联动运营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22000" y="1930400"/>
            <a:ext cx="4318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10922000" y="2095500"/>
            <a:ext cx="4318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网球+潜水+极限运动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+酒店住宿完整消费链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日间运动培训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夜间社交夜经济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C895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全天候目的地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4762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运营闭环模式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62000" y="5334000"/>
            <a:ext cx="2540000" cy="10160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5334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网球引流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运动爱好者入口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29000" y="5715000"/>
            <a:ext cx="635000" cy="0"/>
          </a:xfrm>
          <a:prstGeom prst="straightConnector1">
            <a:avLst/>
          </a:prstGeom>
          <a:noFill/>
          <a:ln w="25400">
            <a:solidFill>
              <a:srgbClr val="C8956C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4191000" y="5334000"/>
            <a:ext cx="2540000" cy="10160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25" name="Text 23"/>
          <p:cNvSpPr/>
          <p:nvPr/>
        </p:nvSpPr>
        <p:spPr>
          <a:xfrm>
            <a:off x="4191000" y="5334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潜水体验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核心专业服务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58000" y="5715000"/>
            <a:ext cx="635000" cy="0"/>
          </a:xfrm>
          <a:prstGeom prst="straightConnector1">
            <a:avLst/>
          </a:prstGeom>
          <a:noFill/>
          <a:ln w="25400">
            <a:solidFill>
              <a:srgbClr val="C8956C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7620000" y="5334000"/>
            <a:ext cx="2540000" cy="10160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28" name="Text 26"/>
          <p:cNvSpPr/>
          <p:nvPr/>
        </p:nvSpPr>
        <p:spPr>
          <a:xfrm>
            <a:off x="7620000" y="5334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极限运动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潮玩社交引爆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287000" y="5715000"/>
            <a:ext cx="635000" cy="0"/>
          </a:xfrm>
          <a:prstGeom prst="straightConnector1">
            <a:avLst/>
          </a:prstGeom>
          <a:noFill/>
          <a:ln w="25400">
            <a:solidFill>
              <a:srgbClr val="C8956C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11049000" y="5334000"/>
            <a:ext cx="2540000" cy="1016000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31" name="Text 29"/>
          <p:cNvSpPr/>
          <p:nvPr/>
        </p:nvSpPr>
        <p:spPr>
          <a:xfrm>
            <a:off x="11049000" y="5334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酒店留客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度假消费闭环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3716000" y="5715000"/>
            <a:ext cx="635000" cy="0"/>
          </a:xfrm>
          <a:prstGeom prst="straightConnector1">
            <a:avLst/>
          </a:prstGeom>
          <a:noFill/>
          <a:ln w="25400">
            <a:solidFill>
              <a:srgbClr val="C8956C"/>
            </a:solidFill>
            <a:prstDash val="solid"/>
            <a:headEnd type="none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14478000" y="5651500"/>
            <a:ext cx="1016000" cy="3810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4" name="Text 32"/>
          <p:cNvSpPr/>
          <p:nvPr/>
        </p:nvSpPr>
        <p:spPr>
          <a:xfrm>
            <a:off x="14478000" y="56515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复购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" y="673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公益配套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62000" y="7239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895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高速桥下免费开放运动场，服务周边社区居民，补充城市运动场地缺口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895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约300泊位立体停车楼，面向居民、公园游客、运动爱好者开放，缓解区域停车难题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C8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048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三重价值：商业盈利、民生公益、城市更新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4732000" cy="0"/>
          </a:xfrm>
          <a:prstGeom prst="straightConnector1">
            <a:avLst/>
          </a:prstGeom>
          <a:noFill/>
          <a:ln w="12700">
            <a:solidFill>
              <a:srgbClr val="E0DDD8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62000" y="1143000"/>
            <a:ext cx="46990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143000"/>
            <a:ext cx="4699000" cy="63500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46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85725"/>
                </a:moveTo>
                <a:lnTo>
                  <a:pt x="114300" y="71438"/>
                </a:lnTo>
                <a:cubicBezTo>
                  <a:pt x="114300" y="31968"/>
                  <a:pt x="191095" y="0"/>
                  <a:pt x="285750" y="0"/>
                </a:cubicBezTo>
                <a:cubicBezTo>
                  <a:pt x="380405" y="0"/>
                  <a:pt x="457200" y="31968"/>
                  <a:pt x="457200" y="71438"/>
                </a:cubicBezTo>
                <a:lnTo>
                  <a:pt x="457200" y="85725"/>
                </a:lnTo>
                <a:cubicBezTo>
                  <a:pt x="457200" y="113050"/>
                  <a:pt x="420320" y="136803"/>
                  <a:pt x="366117" y="148858"/>
                </a:cubicBezTo>
                <a:cubicBezTo>
                  <a:pt x="363974" y="146358"/>
                  <a:pt x="361742" y="143947"/>
                  <a:pt x="359509" y="141714"/>
                </a:cubicBezTo>
                <a:cubicBezTo>
                  <a:pt x="345668" y="128052"/>
                  <a:pt x="327809" y="117693"/>
                  <a:pt x="309146" y="110014"/>
                </a:cubicBezTo>
                <a:cubicBezTo>
                  <a:pt x="271730" y="94387"/>
                  <a:pt x="222974" y="85814"/>
                  <a:pt x="171450" y="85814"/>
                </a:cubicBezTo>
                <a:cubicBezTo>
                  <a:pt x="151894" y="85814"/>
                  <a:pt x="132784" y="87064"/>
                  <a:pt x="114479" y="89475"/>
                </a:cubicBezTo>
                <a:cubicBezTo>
                  <a:pt x="114300" y="88315"/>
                  <a:pt x="114300" y="87064"/>
                  <a:pt x="114300" y="85814"/>
                </a:cubicBezTo>
                <a:close/>
                <a:moveTo>
                  <a:pt x="385763" y="315218"/>
                </a:moveTo>
                <a:lnTo>
                  <a:pt x="385763" y="273963"/>
                </a:lnTo>
                <a:cubicBezTo>
                  <a:pt x="399246" y="270480"/>
                  <a:pt x="411926" y="266373"/>
                  <a:pt x="423446" y="261551"/>
                </a:cubicBezTo>
                <a:cubicBezTo>
                  <a:pt x="435233" y="256639"/>
                  <a:pt x="446752" y="250656"/>
                  <a:pt x="457200" y="243423"/>
                </a:cubicBezTo>
                <a:lnTo>
                  <a:pt x="457200" y="257175"/>
                </a:lnTo>
                <a:cubicBezTo>
                  <a:pt x="457200" y="281107"/>
                  <a:pt x="429071" y="302270"/>
                  <a:pt x="385763" y="315218"/>
                </a:cubicBezTo>
                <a:close/>
                <a:moveTo>
                  <a:pt x="385763" y="229493"/>
                </a:moveTo>
                <a:lnTo>
                  <a:pt x="385763" y="200025"/>
                </a:lnTo>
                <a:cubicBezTo>
                  <a:pt x="385763" y="196007"/>
                  <a:pt x="385405" y="192167"/>
                  <a:pt x="384870" y="188416"/>
                </a:cubicBezTo>
                <a:cubicBezTo>
                  <a:pt x="398711" y="184934"/>
                  <a:pt x="411659" y="180737"/>
                  <a:pt x="423446" y="175736"/>
                </a:cubicBezTo>
                <a:cubicBezTo>
                  <a:pt x="435233" y="170736"/>
                  <a:pt x="446752" y="164842"/>
                  <a:pt x="457200" y="157609"/>
                </a:cubicBezTo>
                <a:lnTo>
                  <a:pt x="457200" y="171361"/>
                </a:lnTo>
                <a:cubicBezTo>
                  <a:pt x="457200" y="195292"/>
                  <a:pt x="429071" y="216456"/>
                  <a:pt x="385763" y="229404"/>
                </a:cubicBezTo>
                <a:close/>
                <a:moveTo>
                  <a:pt x="0" y="214313"/>
                </a:moveTo>
                <a:lnTo>
                  <a:pt x="0" y="200025"/>
                </a:lnTo>
                <a:cubicBezTo>
                  <a:pt x="0" y="160556"/>
                  <a:pt x="76795" y="128588"/>
                  <a:pt x="171450" y="128588"/>
                </a:cubicBezTo>
                <a:cubicBezTo>
                  <a:pt x="266105" y="128588"/>
                  <a:pt x="342900" y="160556"/>
                  <a:pt x="342900" y="200025"/>
                </a:cubicBezTo>
                <a:lnTo>
                  <a:pt x="342900" y="214313"/>
                </a:lnTo>
                <a:cubicBezTo>
                  <a:pt x="342900" y="253782"/>
                  <a:pt x="266105" y="285750"/>
                  <a:pt x="171450" y="285750"/>
                </a:cubicBezTo>
                <a:cubicBezTo>
                  <a:pt x="76795" y="285750"/>
                  <a:pt x="0" y="253782"/>
                  <a:pt x="0" y="214313"/>
                </a:cubicBezTo>
                <a:close/>
                <a:moveTo>
                  <a:pt x="342900" y="300038"/>
                </a:moveTo>
                <a:cubicBezTo>
                  <a:pt x="342900" y="339507"/>
                  <a:pt x="266105" y="371475"/>
                  <a:pt x="171450" y="371475"/>
                </a:cubicBezTo>
                <a:cubicBezTo>
                  <a:pt x="76795" y="371475"/>
                  <a:pt x="0" y="339507"/>
                  <a:pt x="0" y="300038"/>
                </a:cubicBezTo>
                <a:lnTo>
                  <a:pt x="0" y="286286"/>
                </a:lnTo>
                <a:cubicBezTo>
                  <a:pt x="10358" y="293519"/>
                  <a:pt x="21878" y="299412"/>
                  <a:pt x="33754" y="304413"/>
                </a:cubicBezTo>
                <a:cubicBezTo>
                  <a:pt x="71170" y="320040"/>
                  <a:pt x="119926" y="328613"/>
                  <a:pt x="171450" y="328613"/>
                </a:cubicBezTo>
                <a:cubicBezTo>
                  <a:pt x="222974" y="328613"/>
                  <a:pt x="271730" y="319951"/>
                  <a:pt x="309146" y="304413"/>
                </a:cubicBezTo>
                <a:cubicBezTo>
                  <a:pt x="320933" y="299502"/>
                  <a:pt x="332452" y="293519"/>
                  <a:pt x="342900" y="286286"/>
                </a:cubicBezTo>
                <a:lnTo>
                  <a:pt x="342900" y="300038"/>
                </a:lnTo>
                <a:close/>
                <a:moveTo>
                  <a:pt x="342900" y="372011"/>
                </a:moveTo>
                <a:lnTo>
                  <a:pt x="342900" y="385763"/>
                </a:lnTo>
                <a:cubicBezTo>
                  <a:pt x="342900" y="425232"/>
                  <a:pt x="266105" y="457200"/>
                  <a:pt x="171450" y="457200"/>
                </a:cubicBezTo>
                <a:cubicBezTo>
                  <a:pt x="76795" y="457200"/>
                  <a:pt x="0" y="425232"/>
                  <a:pt x="0" y="385763"/>
                </a:cubicBezTo>
                <a:lnTo>
                  <a:pt x="0" y="372011"/>
                </a:lnTo>
                <a:cubicBezTo>
                  <a:pt x="10358" y="379244"/>
                  <a:pt x="21878" y="385137"/>
                  <a:pt x="33754" y="390138"/>
                </a:cubicBezTo>
                <a:cubicBezTo>
                  <a:pt x="71170" y="405765"/>
                  <a:pt x="119926" y="414338"/>
                  <a:pt x="171450" y="414338"/>
                </a:cubicBezTo>
                <a:cubicBezTo>
                  <a:pt x="222974" y="414338"/>
                  <a:pt x="271730" y="405676"/>
                  <a:pt x="309146" y="390138"/>
                </a:cubicBezTo>
                <a:cubicBezTo>
                  <a:pt x="320933" y="385227"/>
                  <a:pt x="332452" y="379244"/>
                  <a:pt x="342900" y="372011"/>
                </a:cubicBezTo>
                <a:close/>
              </a:path>
            </a:pathLst>
          </a:custGeom>
          <a:solidFill>
            <a:srgbClr val="C8956C"/>
          </a:solidFill>
          <a:ln/>
        </p:spPr>
      </p:sp>
      <p:sp>
        <p:nvSpPr>
          <p:cNvPr id="8" name="Text 6"/>
          <p:cNvSpPr/>
          <p:nvPr/>
        </p:nvSpPr>
        <p:spPr>
          <a:xfrm>
            <a:off x="1625600" y="14605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商业价值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159000"/>
            <a:ext cx="4191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盘活低效工业用地，打造华南首个山景深潜综合体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预估年客流量可达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C895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数十万人次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带动周边商业配套发展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多元收入结构：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潜水培训与体验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酒店住宿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运动体验与商业零售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1143000"/>
            <a:ext cx="46990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1143000"/>
            <a:ext cx="4699000" cy="635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12" name="Shape 10"/>
          <p:cNvSpPr/>
          <p:nvPr/>
        </p:nvSpPr>
        <p:spPr>
          <a:xfrm>
            <a:off x="5969000" y="146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15205" y="77778"/>
                </a:moveTo>
                <a:lnTo>
                  <a:pt x="228600" y="96262"/>
                </a:lnTo>
                <a:lnTo>
                  <a:pt x="241995" y="77778"/>
                </a:lnTo>
                <a:cubicBezTo>
                  <a:pt x="264319" y="46881"/>
                  <a:pt x="300216" y="28575"/>
                  <a:pt x="338346" y="28575"/>
                </a:cubicBezTo>
                <a:cubicBezTo>
                  <a:pt x="403979" y="28575"/>
                  <a:pt x="457200" y="81796"/>
                  <a:pt x="457200" y="147429"/>
                </a:cubicBezTo>
                <a:lnTo>
                  <a:pt x="457200" y="149751"/>
                </a:lnTo>
                <a:cubicBezTo>
                  <a:pt x="457200" y="249942"/>
                  <a:pt x="332274" y="366296"/>
                  <a:pt x="267087" y="416034"/>
                </a:cubicBezTo>
                <a:cubicBezTo>
                  <a:pt x="256014" y="424428"/>
                  <a:pt x="242441" y="428625"/>
                  <a:pt x="228600" y="428625"/>
                </a:cubicBezTo>
                <a:cubicBezTo>
                  <a:pt x="214759" y="428625"/>
                  <a:pt x="201097" y="424517"/>
                  <a:pt x="190113" y="416034"/>
                </a:cubicBezTo>
                <a:cubicBezTo>
                  <a:pt x="124926" y="366296"/>
                  <a:pt x="0" y="249942"/>
                  <a:pt x="0" y="149751"/>
                </a:cubicBezTo>
                <a:lnTo>
                  <a:pt x="0" y="147429"/>
                </a:lnTo>
                <a:cubicBezTo>
                  <a:pt x="0" y="81796"/>
                  <a:pt x="53221" y="28575"/>
                  <a:pt x="118854" y="28575"/>
                </a:cubicBezTo>
                <a:cubicBezTo>
                  <a:pt x="156984" y="28575"/>
                  <a:pt x="192881" y="46881"/>
                  <a:pt x="215205" y="77778"/>
                </a:cubicBezTo>
                <a:close/>
              </a:path>
            </a:pathLst>
          </a:custGeom>
          <a:solidFill>
            <a:srgbClr val="1B4D3E"/>
          </a:solidFill>
          <a:ln/>
        </p:spPr>
      </p:sp>
      <p:sp>
        <p:nvSpPr>
          <p:cNvPr id="13" name="Text 11"/>
          <p:cNvSpPr/>
          <p:nvPr/>
        </p:nvSpPr>
        <p:spPr>
          <a:xfrm>
            <a:off x="6578600" y="14605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民生价值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69000" y="2159000"/>
            <a:ext cx="4191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屋顶网球场补充城市运动场地缺口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响应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全民健身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国家战略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桥下公益运动场免费开放，服务周边社区居民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约300个停车位缓解区域停车难题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为市民创造宝贵的专业运动空间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668000" y="1143000"/>
            <a:ext cx="48260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68000" y="1143000"/>
            <a:ext cx="4826000" cy="63500"/>
          </a:xfrm>
          <a:prstGeom prst="rect">
            <a:avLst/>
          </a:prstGeom>
          <a:solidFill>
            <a:srgbClr val="2D5016"/>
          </a:solidFill>
          <a:ln/>
        </p:spPr>
      </p:sp>
      <p:sp>
        <p:nvSpPr>
          <p:cNvPr id="17" name="Shape 15"/>
          <p:cNvSpPr/>
          <p:nvPr/>
        </p:nvSpPr>
        <p:spPr>
          <a:xfrm>
            <a:off x="10893425" y="1460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85750" y="0"/>
                </a:moveTo>
                <a:cubicBezTo>
                  <a:pt x="254228" y="0"/>
                  <a:pt x="228600" y="25628"/>
                  <a:pt x="228600" y="57150"/>
                </a:cubicBezTo>
                <a:lnTo>
                  <a:pt x="228600" y="85725"/>
                </a:lnTo>
                <a:lnTo>
                  <a:pt x="185738" y="85725"/>
                </a:lnTo>
                <a:lnTo>
                  <a:pt x="185738" y="21431"/>
                </a:lnTo>
                <a:cubicBezTo>
                  <a:pt x="185738" y="9555"/>
                  <a:pt x="176183" y="0"/>
                  <a:pt x="164306" y="0"/>
                </a:cubicBezTo>
                <a:cubicBezTo>
                  <a:pt x="152430" y="0"/>
                  <a:pt x="142875" y="9555"/>
                  <a:pt x="142875" y="21431"/>
                </a:cubicBezTo>
                <a:lnTo>
                  <a:pt x="142875" y="85725"/>
                </a:lnTo>
                <a:lnTo>
                  <a:pt x="85725" y="85725"/>
                </a:lnTo>
                <a:lnTo>
                  <a:pt x="85725" y="21431"/>
                </a:lnTo>
                <a:cubicBezTo>
                  <a:pt x="85725" y="9555"/>
                  <a:pt x="76170" y="0"/>
                  <a:pt x="64294" y="0"/>
                </a:cubicBezTo>
                <a:cubicBezTo>
                  <a:pt x="52417" y="0"/>
                  <a:pt x="42863" y="9555"/>
                  <a:pt x="42863" y="21431"/>
                </a:cubicBezTo>
                <a:lnTo>
                  <a:pt x="42863" y="87511"/>
                </a:lnTo>
                <a:cubicBezTo>
                  <a:pt x="18217" y="93851"/>
                  <a:pt x="0" y="116265"/>
                  <a:pt x="0" y="142875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457200" y="457200"/>
                </a:lnTo>
                <a:cubicBezTo>
                  <a:pt x="488722" y="457200"/>
                  <a:pt x="514350" y="431572"/>
                  <a:pt x="514350" y="400050"/>
                </a:cubicBezTo>
                <a:lnTo>
                  <a:pt x="514350" y="228600"/>
                </a:lnTo>
                <a:cubicBezTo>
                  <a:pt x="514350" y="197078"/>
                  <a:pt x="488722" y="171450"/>
                  <a:pt x="457200" y="171450"/>
                </a:cubicBezTo>
                <a:lnTo>
                  <a:pt x="400050" y="171450"/>
                </a:lnTo>
                <a:lnTo>
                  <a:pt x="400050" y="57150"/>
                </a:lnTo>
                <a:cubicBezTo>
                  <a:pt x="400050" y="25628"/>
                  <a:pt x="374422" y="0"/>
                  <a:pt x="342900" y="0"/>
                </a:cubicBezTo>
                <a:lnTo>
                  <a:pt x="285750" y="0"/>
                </a:lnTo>
                <a:close/>
                <a:moveTo>
                  <a:pt x="342900" y="100013"/>
                </a:moveTo>
                <a:lnTo>
                  <a:pt x="342900" y="128588"/>
                </a:lnTo>
                <a:cubicBezTo>
                  <a:pt x="342900" y="136446"/>
                  <a:pt x="336471" y="142875"/>
                  <a:pt x="328613" y="142875"/>
                </a:cubicBezTo>
                <a:lnTo>
                  <a:pt x="300038" y="142875"/>
                </a:lnTo>
                <a:cubicBezTo>
                  <a:pt x="292179" y="142875"/>
                  <a:pt x="285750" y="136446"/>
                  <a:pt x="285750" y="128588"/>
                </a:cubicBezTo>
                <a:lnTo>
                  <a:pt x="285750" y="100013"/>
                </a:lnTo>
                <a:cubicBezTo>
                  <a:pt x="285750" y="92154"/>
                  <a:pt x="292179" y="85725"/>
                  <a:pt x="300038" y="85725"/>
                </a:cubicBezTo>
                <a:lnTo>
                  <a:pt x="328613" y="85725"/>
                </a:lnTo>
                <a:cubicBezTo>
                  <a:pt x="336471" y="85725"/>
                  <a:pt x="342900" y="92154"/>
                  <a:pt x="342900" y="100013"/>
                </a:cubicBezTo>
                <a:close/>
                <a:moveTo>
                  <a:pt x="328613" y="171450"/>
                </a:moveTo>
                <a:cubicBezTo>
                  <a:pt x="336471" y="171450"/>
                  <a:pt x="342900" y="177879"/>
                  <a:pt x="342900" y="185738"/>
                </a:cubicBezTo>
                <a:lnTo>
                  <a:pt x="342900" y="214313"/>
                </a:lnTo>
                <a:cubicBezTo>
                  <a:pt x="342900" y="222171"/>
                  <a:pt x="336471" y="228600"/>
                  <a:pt x="328613" y="228600"/>
                </a:cubicBezTo>
                <a:lnTo>
                  <a:pt x="300038" y="228600"/>
                </a:lnTo>
                <a:cubicBezTo>
                  <a:pt x="292179" y="228600"/>
                  <a:pt x="285750" y="222171"/>
                  <a:pt x="285750" y="214313"/>
                </a:cubicBezTo>
                <a:lnTo>
                  <a:pt x="285750" y="185738"/>
                </a:lnTo>
                <a:cubicBezTo>
                  <a:pt x="285750" y="177879"/>
                  <a:pt x="292179" y="171450"/>
                  <a:pt x="300038" y="171450"/>
                </a:cubicBezTo>
                <a:lnTo>
                  <a:pt x="328613" y="171450"/>
                </a:lnTo>
                <a:close/>
                <a:moveTo>
                  <a:pt x="342900" y="271463"/>
                </a:moveTo>
                <a:lnTo>
                  <a:pt x="342900" y="300038"/>
                </a:lnTo>
                <a:cubicBezTo>
                  <a:pt x="342900" y="307896"/>
                  <a:pt x="336471" y="314325"/>
                  <a:pt x="328613" y="314325"/>
                </a:cubicBezTo>
                <a:lnTo>
                  <a:pt x="300038" y="314325"/>
                </a:lnTo>
                <a:cubicBezTo>
                  <a:pt x="292179" y="314325"/>
                  <a:pt x="285750" y="307896"/>
                  <a:pt x="285750" y="300038"/>
                </a:cubicBezTo>
                <a:lnTo>
                  <a:pt x="285750" y="271463"/>
                </a:lnTo>
                <a:cubicBezTo>
                  <a:pt x="285750" y="263604"/>
                  <a:pt x="292179" y="257175"/>
                  <a:pt x="300038" y="257175"/>
                </a:cubicBezTo>
                <a:lnTo>
                  <a:pt x="328613" y="257175"/>
                </a:lnTo>
                <a:cubicBezTo>
                  <a:pt x="336471" y="257175"/>
                  <a:pt x="342900" y="263604"/>
                  <a:pt x="342900" y="271463"/>
                </a:cubicBezTo>
                <a:close/>
                <a:moveTo>
                  <a:pt x="442913" y="257175"/>
                </a:moveTo>
                <a:cubicBezTo>
                  <a:pt x="450771" y="257175"/>
                  <a:pt x="457200" y="263604"/>
                  <a:pt x="457200" y="271463"/>
                </a:cubicBezTo>
                <a:lnTo>
                  <a:pt x="457200" y="300038"/>
                </a:lnTo>
                <a:cubicBezTo>
                  <a:pt x="457200" y="307896"/>
                  <a:pt x="450771" y="314325"/>
                  <a:pt x="442913" y="314325"/>
                </a:cubicBezTo>
                <a:lnTo>
                  <a:pt x="414338" y="314325"/>
                </a:lnTo>
                <a:cubicBezTo>
                  <a:pt x="406479" y="314325"/>
                  <a:pt x="400050" y="307896"/>
                  <a:pt x="400050" y="300038"/>
                </a:cubicBezTo>
                <a:lnTo>
                  <a:pt x="400050" y="271463"/>
                </a:lnTo>
                <a:cubicBezTo>
                  <a:pt x="400050" y="263604"/>
                  <a:pt x="406479" y="257175"/>
                  <a:pt x="414338" y="257175"/>
                </a:cubicBezTo>
                <a:lnTo>
                  <a:pt x="442913" y="257175"/>
                </a:lnTo>
                <a:close/>
                <a:moveTo>
                  <a:pt x="228600" y="271463"/>
                </a:moveTo>
                <a:lnTo>
                  <a:pt x="228600" y="300038"/>
                </a:lnTo>
                <a:cubicBezTo>
                  <a:pt x="228600" y="307896"/>
                  <a:pt x="222171" y="314325"/>
                  <a:pt x="214313" y="314325"/>
                </a:cubicBezTo>
                <a:lnTo>
                  <a:pt x="185738" y="314325"/>
                </a:lnTo>
                <a:cubicBezTo>
                  <a:pt x="177879" y="314325"/>
                  <a:pt x="171450" y="307896"/>
                  <a:pt x="171450" y="300038"/>
                </a:cubicBezTo>
                <a:lnTo>
                  <a:pt x="171450" y="271463"/>
                </a:lnTo>
                <a:cubicBezTo>
                  <a:pt x="171450" y="263604"/>
                  <a:pt x="177879" y="257175"/>
                  <a:pt x="185738" y="257175"/>
                </a:cubicBezTo>
                <a:lnTo>
                  <a:pt x="214313" y="257175"/>
                </a:lnTo>
                <a:cubicBezTo>
                  <a:pt x="222171" y="257175"/>
                  <a:pt x="228600" y="263604"/>
                  <a:pt x="228600" y="271463"/>
                </a:cubicBezTo>
                <a:close/>
                <a:moveTo>
                  <a:pt x="214313" y="171450"/>
                </a:moveTo>
                <a:cubicBezTo>
                  <a:pt x="222171" y="171450"/>
                  <a:pt x="228600" y="177879"/>
                  <a:pt x="228600" y="185738"/>
                </a:cubicBezTo>
                <a:lnTo>
                  <a:pt x="228600" y="214313"/>
                </a:lnTo>
                <a:cubicBezTo>
                  <a:pt x="228600" y="222171"/>
                  <a:pt x="222171" y="228600"/>
                  <a:pt x="214313" y="228600"/>
                </a:cubicBezTo>
                <a:lnTo>
                  <a:pt x="185738" y="228600"/>
                </a:lnTo>
                <a:cubicBezTo>
                  <a:pt x="177879" y="228600"/>
                  <a:pt x="171450" y="222171"/>
                  <a:pt x="171450" y="214313"/>
                </a:cubicBezTo>
                <a:lnTo>
                  <a:pt x="171450" y="185738"/>
                </a:lnTo>
                <a:cubicBezTo>
                  <a:pt x="171450" y="177879"/>
                  <a:pt x="177879" y="171450"/>
                  <a:pt x="185738" y="171450"/>
                </a:cubicBezTo>
                <a:lnTo>
                  <a:pt x="214313" y="171450"/>
                </a:lnTo>
                <a:close/>
                <a:moveTo>
                  <a:pt x="114300" y="271463"/>
                </a:moveTo>
                <a:lnTo>
                  <a:pt x="114300" y="300038"/>
                </a:lnTo>
                <a:cubicBezTo>
                  <a:pt x="114300" y="307896"/>
                  <a:pt x="107871" y="314325"/>
                  <a:pt x="100013" y="314325"/>
                </a:cubicBezTo>
                <a:lnTo>
                  <a:pt x="71438" y="314325"/>
                </a:lnTo>
                <a:cubicBezTo>
                  <a:pt x="63579" y="314325"/>
                  <a:pt x="57150" y="307896"/>
                  <a:pt x="57150" y="300038"/>
                </a:cubicBezTo>
                <a:lnTo>
                  <a:pt x="57150" y="271463"/>
                </a:lnTo>
                <a:cubicBezTo>
                  <a:pt x="57150" y="263604"/>
                  <a:pt x="63579" y="257175"/>
                  <a:pt x="71438" y="257175"/>
                </a:cubicBezTo>
                <a:lnTo>
                  <a:pt x="100013" y="257175"/>
                </a:lnTo>
                <a:cubicBezTo>
                  <a:pt x="107871" y="257175"/>
                  <a:pt x="114300" y="263604"/>
                  <a:pt x="114300" y="271463"/>
                </a:cubicBezTo>
                <a:close/>
                <a:moveTo>
                  <a:pt x="100013" y="171450"/>
                </a:moveTo>
                <a:cubicBezTo>
                  <a:pt x="107871" y="171450"/>
                  <a:pt x="114300" y="177879"/>
                  <a:pt x="114300" y="185738"/>
                </a:cubicBezTo>
                <a:lnTo>
                  <a:pt x="114300" y="214313"/>
                </a:lnTo>
                <a:cubicBezTo>
                  <a:pt x="114300" y="222171"/>
                  <a:pt x="107871" y="228600"/>
                  <a:pt x="100013" y="228600"/>
                </a:cubicBezTo>
                <a:lnTo>
                  <a:pt x="71438" y="228600"/>
                </a:lnTo>
                <a:cubicBezTo>
                  <a:pt x="63579" y="228600"/>
                  <a:pt x="57150" y="222171"/>
                  <a:pt x="57150" y="214313"/>
                </a:cubicBezTo>
                <a:lnTo>
                  <a:pt x="57150" y="185738"/>
                </a:lnTo>
                <a:cubicBezTo>
                  <a:pt x="57150" y="177879"/>
                  <a:pt x="63579" y="171450"/>
                  <a:pt x="71438" y="171450"/>
                </a:cubicBezTo>
                <a:lnTo>
                  <a:pt x="100013" y="171450"/>
                </a:lnTo>
                <a:close/>
              </a:path>
            </a:pathLst>
          </a:custGeom>
          <a:solidFill>
            <a:srgbClr val="2D5016"/>
          </a:solidFill>
          <a:ln/>
        </p:spPr>
      </p:sp>
      <p:sp>
        <p:nvSpPr>
          <p:cNvPr id="18" name="Text 16"/>
          <p:cNvSpPr/>
          <p:nvPr/>
        </p:nvSpPr>
        <p:spPr>
          <a:xfrm>
            <a:off x="11531600" y="1460500"/>
            <a:ext cx="3683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城市更新价值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22000" y="2159000"/>
            <a:ext cx="4318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消除3号院8栋高危建筑安全隐患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从根本上解决结构安全问题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白云山畔城市地标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提升区域城市形象与文旅吸引力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契合广州城市更新政策导向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打造低效用地盘活创新样本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6096000"/>
            <a:ext cx="14732000" cy="6350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21" name="Text 19"/>
          <p:cNvSpPr/>
          <p:nvPr/>
        </p:nvSpPr>
        <p:spPr>
          <a:xfrm>
            <a:off x="762000" y="6096000"/>
            <a:ext cx="147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商业盈利 · 民生公益 · 城市更新 —— 三重价值共赢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7048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政策契合度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62000" y="74930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895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契合《广州市城市更新条例》关于低效存量用地盘活利用的政策导向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895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响应国家全民健身战略，补充公共体育设施供给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895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落实广东省"挖掘存量用地"政策，打造屋顶体育设施建设创新样本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240000" y="127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C8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5a1c72c04793c515d826e838af83c32c9d347549.jpg">    </p:cNvPr>
          <p:cNvPicPr>
            <a:picLocks noChangeAspect="1"/>
          </p:cNvPicPr>
          <p:nvPr/>
        </p:nvPicPr>
        <p:blipFill>
          <a:blip r:embed="rId1"/>
          <a:srcRect l="0" r="0" t="9922" b="9922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D3E">
                  <a:alpha val="20000"/>
                </a:srgbClr>
              </a:gs>
              <a:gs pos="30000">
                <a:srgbClr val="1B4D3E">
                  <a:alpha val="67000"/>
                </a:srgbClr>
              </a:gs>
              <a:gs pos="100000">
                <a:srgbClr val="1B4D3E">
                  <a:alpha val="87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540000"/>
            <a:ext cx="2540000" cy="0"/>
          </a:xfrm>
          <a:prstGeom prst="straightConnector1">
            <a:avLst/>
          </a:prstGeom>
          <a:noFill/>
          <a:ln w="25400">
            <a:solidFill>
              <a:srgbClr val="C8956C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778000" y="2794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山屿潜境 · 期待与您共创城市更新标杆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0" y="3937000"/>
            <a:ext cx="2540000" cy="0"/>
          </a:xfrm>
          <a:prstGeom prst="straightConnector1">
            <a:avLst/>
          </a:prstGeom>
          <a:noFill/>
          <a:ln w="25400">
            <a:solidFill>
              <a:srgbClr val="C8956C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2413000" y="4318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恳请主管部门批准3号院建筑边界规整、屋顶高度调整（不超15米）、外立面改造申请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83000" y="5588000"/>
            <a:ext cx="8890000" cy="635000"/>
          </a:xfrm>
          <a:prstGeom prst="rect">
            <a:avLst/>
          </a:prstGeom>
          <a:solidFill>
            <a:srgbClr val="FFFFFF">
              <a:alpha val="9412"/>
            </a:srgbClr>
          </a:solidFill>
          <a:ln w="12700">
            <a:solidFill>
              <a:srgbClr val="FFFFFF">
                <a:alpha val="26667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83000" y="5588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承诺：不增加建筑面积 · 不突破用地红线 · 依法依规推进改造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048000" y="6604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打造广州独有的山麓极限运动地标，实现商业、民生、城市更新三重价值共赢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23000" y="762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5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2026年5月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8956C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山屿潜境·项目改造前期沟通汇报</dc:title>
  <dc:subject>山屿潜境·项目改造前期沟通汇报</dc:subject>
  <dc:creator>Kimi</dc:creator>
  <cp:lastModifiedBy>Kimi</cp:lastModifiedBy>
  <cp:revision>1</cp:revision>
  <dcterms:created xsi:type="dcterms:W3CDTF">2026-05-03T17:34:45Z</dcterms:created>
  <dcterms:modified xsi:type="dcterms:W3CDTF">2026-05-03T17:34:45Z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山屿潜境·项目改造前期沟通汇报","ContentProducer":"001191110108MACG2KBH8F10000","ProduceID":"19deee13-2392-8938-8000-0000da35bd4a","ReservedCode1":"","ContentPropagator":"001191110108MACG2KBH8F20000","PropagateID":"19deee13-2392-8938-8000-0000da35bd4a","ReservedCode2":""}</vt:lpwstr>
  </property>
</Properties>
</file>